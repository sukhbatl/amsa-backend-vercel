
<file path=[Content_Types].xml><?xml version="1.0" encoding="utf-8"?>
<Types xmlns="http://schemas.openxmlformats.org/package/2006/content-types"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customXml/itemProps4.xml" ContentType="application/vnd.openxmlformats-officedocument.customXml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5"/>
  </p:sldMasterIdLst>
  <p:notesMasterIdLst>
    <p:notesMasterId r:id="rId17"/>
  </p:notesMasterIdLst>
  <p:handoutMasterIdLst>
    <p:handoutMasterId r:id="rId18"/>
  </p:handoutMasterIdLst>
  <p:sldIdLst>
    <p:sldId id="258" r:id="rId6"/>
    <p:sldId id="269" r:id="rId7"/>
    <p:sldId id="270" r:id="rId8"/>
    <p:sldId id="271" r:id="rId9"/>
    <p:sldId id="268" r:id="rId10"/>
    <p:sldId id="266" r:id="rId11"/>
    <p:sldId id="267" r:id="rId12"/>
    <p:sldId id="272" r:id="rId13"/>
    <p:sldId id="273" r:id="rId14"/>
    <p:sldId id="274" r:id="rId15"/>
    <p:sldId id="275" r:id="rId16"/>
  </p:sldIdLst>
  <p:sldSz cx="9144000" cy="6858000" type="screen4x3"/>
  <p:notesSz cx="9296400" cy="7010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2F19"/>
    <a:srgbClr val="C0C0C0"/>
    <a:srgbClr val="FF0000"/>
    <a:srgbClr val="C6DBEC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1" autoAdjust="0"/>
    <p:restoredTop sz="76967" autoAdjust="0"/>
  </p:normalViewPr>
  <p:slideViewPr>
    <p:cSldViewPr snapToGrid="0">
      <p:cViewPr varScale="1">
        <p:scale>
          <a:sx n="66" d="100"/>
          <a:sy n="66" d="100"/>
        </p:scale>
        <p:origin x="-960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108" d="100"/>
          <a:sy n="108" d="100"/>
        </p:scale>
        <p:origin x="-1788" y="-90"/>
      </p:cViewPr>
      <p:guideLst>
        <p:guide orient="horz" pos="2208"/>
        <p:guide pos="2928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9075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65738" y="0"/>
            <a:ext cx="4029075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75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657975"/>
            <a:ext cx="4029075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75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5738" y="6657975"/>
            <a:ext cx="4029075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22563EE1-5C06-431D-8FD0-69FCD8311F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617800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9075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65738" y="0"/>
            <a:ext cx="4029075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65175" y="1947863"/>
            <a:ext cx="3505200" cy="26289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725988" y="762000"/>
            <a:ext cx="3795712" cy="570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657975"/>
            <a:ext cx="4029075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5738" y="6657975"/>
            <a:ext cx="4029075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>
              <a:defRPr sz="1200" smtClean="0"/>
            </a:lvl1pPr>
          </a:lstStyle>
          <a:p>
            <a:pPr>
              <a:defRPr/>
            </a:pPr>
            <a:fld id="{4AE70CBB-FDB5-4D87-B3F7-94F18F90B5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657152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4DE1F7-6A85-4902-B315-C8397006FFEA}" type="slidenum">
              <a:rPr lang="en-US"/>
              <a:pPr/>
              <a:t>1</a:t>
            </a:fld>
            <a:endParaRPr lang="en-US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000" b="0" i="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Founded in 1853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Washington University, a medium-sized, independent university</a:t>
            </a:r>
          </a:p>
          <a:p>
            <a:r>
              <a:rPr lang="en-US" sz="1000" b="0" i="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The university offers more than 90 programs and almost 1,500 courses leading to bachelor's, master's and doctoral degrees</a:t>
            </a:r>
          </a:p>
          <a:p>
            <a:r>
              <a:rPr lang="en-US" dirty="0" smtClean="0"/>
              <a:t>Washington University’s 11,967 full-time students represent all 50 </a:t>
            </a:r>
          </a:p>
          <a:p>
            <a:r>
              <a:rPr lang="en-US" dirty="0" smtClean="0"/>
              <a:t>states, the District of Columbia, Guam, Puerto Rico, and the Virgin </a:t>
            </a:r>
          </a:p>
          <a:p>
            <a:r>
              <a:rPr lang="en-US" dirty="0" smtClean="0"/>
              <a:t>Islands. There are also nearly 2,100 part-time students. Students and faculty come from over 100 countries around the world. </a:t>
            </a:r>
          </a:p>
          <a:p>
            <a:r>
              <a:rPr lang="en-US" dirty="0" smtClean="0"/>
              <a:t>Washington University’s 11,967 full-time students represent all 50 </a:t>
            </a:r>
          </a:p>
          <a:p>
            <a:r>
              <a:rPr lang="en-US" dirty="0" smtClean="0"/>
              <a:t>states, the District of Columbia, Guam, Puerto Rico, and the Virgin </a:t>
            </a:r>
          </a:p>
          <a:p>
            <a:r>
              <a:rPr lang="en-US" dirty="0" smtClean="0"/>
              <a:t>Islands. There are also nearly 2,100 part-time students. Students and faculty come from over 100 countries around the world. </a:t>
            </a:r>
          </a:p>
          <a:p>
            <a:r>
              <a:rPr lang="en-US" dirty="0" err="1" smtClean="0"/>
              <a:t>WashU</a:t>
            </a:r>
            <a:r>
              <a:rPr lang="en-US" baseline="0" dirty="0" smtClean="0"/>
              <a:t> 14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E70CBB-FDB5-4D87-B3F7-94F18F90B599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School of Medicine is number four in the nation</a:t>
            </a:r>
            <a:endParaRPr lang="mn-MN" dirty="0" smtClean="0"/>
          </a:p>
          <a:p>
            <a:r>
              <a:rPr lang="en-US" dirty="0" smtClean="0"/>
              <a:t>The George Warren Brown School of Social Work ranked number one in the nation, and </a:t>
            </a:r>
          </a:p>
          <a:p>
            <a:r>
              <a:rPr lang="en-US" dirty="0" smtClean="0"/>
              <a:t>Three Arts &amp; Sciences areas ranked in the top 10. </a:t>
            </a:r>
          </a:p>
          <a:p>
            <a:r>
              <a:rPr lang="en-US" dirty="0" smtClean="0"/>
              <a:t>The School of Law was ranked 23rd in the nation</a:t>
            </a:r>
          </a:p>
          <a:p>
            <a:r>
              <a:rPr lang="en-US" dirty="0" smtClean="0"/>
              <a:t>The Department of Biomedical Engineering is ranked number 16. </a:t>
            </a:r>
          </a:p>
          <a:p>
            <a:r>
              <a:rPr lang="en-US" dirty="0" smtClean="0"/>
              <a:t>Olin Business school 22</a:t>
            </a:r>
            <a:r>
              <a:rPr lang="en-US" baseline="30000" dirty="0" smtClean="0"/>
              <a:t>nd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E70CBB-FDB5-4D87-B3F7-94F18F90B599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E70CBB-FDB5-4D87-B3F7-94F18F90B599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C6DBE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Rectangle 8"/>
          <p:cNvSpPr>
            <a:spLocks noChangeArrowheads="1"/>
          </p:cNvSpPr>
          <p:nvPr userDrawn="1"/>
        </p:nvSpPr>
        <p:spPr bwMode="auto">
          <a:xfrm>
            <a:off x="0" y="6172200"/>
            <a:ext cx="9144000" cy="6858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6" name="Picture 9" descr="GWB_Primary_Rev_BW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0" y="0"/>
            <a:ext cx="2743200" cy="247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10" descr="1linerev(CMYK)SM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6324600"/>
            <a:ext cx="472440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568575"/>
            <a:ext cx="7772400" cy="14700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8C64F5E2-BCA9-4029-9796-EC175E0FE9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924300" cy="4038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600200"/>
            <a:ext cx="3924300" cy="4038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152400"/>
            <a:ext cx="200025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52400"/>
            <a:ext cx="584835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18" Type="http://schemas.openxmlformats.org/officeDocument/2006/relationships/image" Target="../media/image6.jpe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9.jpeg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jpeg"/><Relationship Id="rId20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23" Type="http://schemas.openxmlformats.org/officeDocument/2006/relationships/image" Target="../media/image11.jpe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7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Relationship Id="rId22" Type="http://schemas.openxmlformats.org/officeDocument/2006/relationships/image" Target="../media/image10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5" name="Rectangle 7"/>
          <p:cNvSpPr>
            <a:spLocks noChangeArrowheads="1"/>
          </p:cNvSpPr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C6DBE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19" name="Picture 18" descr="IMG_6358_R_cropped.jpg"/>
          <p:cNvPicPr>
            <a:picLocks noChangeAspect="1"/>
          </p:cNvPicPr>
          <p:nvPr userDrawn="1"/>
        </p:nvPicPr>
        <p:blipFill>
          <a:blip r:embed="rId13" cstate="print"/>
          <a:srcRect r="16666" b="6408"/>
          <a:stretch>
            <a:fillRect/>
          </a:stretch>
        </p:blipFill>
        <p:spPr>
          <a:xfrm>
            <a:off x="5516880" y="5946973"/>
            <a:ext cx="914400" cy="911027"/>
          </a:xfrm>
          <a:prstGeom prst="rect">
            <a:avLst/>
          </a:prstGeom>
        </p:spPr>
      </p:pic>
      <p:pic>
        <p:nvPicPr>
          <p:cNvPr id="20" name="Picture 19" descr="Joshu_0219_R_cropped.jpg"/>
          <p:cNvPicPr>
            <a:picLocks noChangeAspect="1"/>
          </p:cNvPicPr>
          <p:nvPr userDrawn="1"/>
        </p:nvPicPr>
        <p:blipFill>
          <a:blip r:embed="rId14" cstate="print"/>
          <a:srcRect r="16666" b="8089"/>
          <a:stretch>
            <a:fillRect/>
          </a:stretch>
        </p:blipFill>
        <p:spPr>
          <a:xfrm>
            <a:off x="6421120" y="5946973"/>
            <a:ext cx="914400" cy="911027"/>
          </a:xfrm>
          <a:prstGeom prst="rect">
            <a:avLst/>
          </a:prstGeom>
        </p:spPr>
      </p:pic>
      <p:pic>
        <p:nvPicPr>
          <p:cNvPr id="21" name="Picture 20" descr="GWB_415_cropped.jpg"/>
          <p:cNvPicPr>
            <a:picLocks noChangeAspect="1"/>
          </p:cNvPicPr>
          <p:nvPr userDrawn="1"/>
        </p:nvPicPr>
        <p:blipFill>
          <a:blip r:embed="rId15" cstate="print"/>
          <a:srcRect r="16666" b="8089"/>
          <a:stretch>
            <a:fillRect/>
          </a:stretch>
        </p:blipFill>
        <p:spPr>
          <a:xfrm>
            <a:off x="0" y="5946973"/>
            <a:ext cx="914400" cy="911027"/>
          </a:xfrm>
          <a:prstGeom prst="rect">
            <a:avLst/>
          </a:prstGeom>
        </p:spPr>
      </p:pic>
      <p:pic>
        <p:nvPicPr>
          <p:cNvPr id="22" name="Picture 21" descr="McBride_Timothy_194_R_cropped.jpg"/>
          <p:cNvPicPr>
            <a:picLocks noChangeAspect="1"/>
          </p:cNvPicPr>
          <p:nvPr userDrawn="1"/>
        </p:nvPicPr>
        <p:blipFill>
          <a:blip r:embed="rId16" cstate="print"/>
          <a:srcRect r="15490" b="8572"/>
          <a:stretch>
            <a:fillRect/>
          </a:stretch>
        </p:blipFill>
        <p:spPr>
          <a:xfrm>
            <a:off x="904240" y="5946973"/>
            <a:ext cx="914400" cy="911027"/>
          </a:xfrm>
          <a:prstGeom prst="rect">
            <a:avLst/>
          </a:prstGeom>
        </p:spPr>
      </p:pic>
      <p:pic>
        <p:nvPicPr>
          <p:cNvPr id="23" name="Picture 22" descr="IMG_3692_R_cropped.jpg"/>
          <p:cNvPicPr>
            <a:picLocks noChangeAspect="1"/>
          </p:cNvPicPr>
          <p:nvPr userDrawn="1"/>
        </p:nvPicPr>
        <p:blipFill>
          <a:blip r:embed="rId17" cstate="print"/>
          <a:srcRect l="9289" r="7148" b="6695"/>
          <a:stretch>
            <a:fillRect/>
          </a:stretch>
        </p:blipFill>
        <p:spPr>
          <a:xfrm>
            <a:off x="4612640" y="5946973"/>
            <a:ext cx="914400" cy="911027"/>
          </a:xfrm>
          <a:prstGeom prst="rect">
            <a:avLst/>
          </a:prstGeom>
        </p:spPr>
      </p:pic>
      <p:pic>
        <p:nvPicPr>
          <p:cNvPr id="25" name="Picture 24" descr="100428_dhk_jason_echols_073_cropped.jpg"/>
          <p:cNvPicPr>
            <a:picLocks noChangeAspect="1"/>
          </p:cNvPicPr>
          <p:nvPr userDrawn="1"/>
        </p:nvPicPr>
        <p:blipFill>
          <a:blip r:embed="rId18" cstate="print"/>
          <a:srcRect l="9511" r="9308" b="6407"/>
          <a:stretch>
            <a:fillRect/>
          </a:stretch>
        </p:blipFill>
        <p:spPr>
          <a:xfrm>
            <a:off x="3708400" y="5946973"/>
            <a:ext cx="914400" cy="911027"/>
          </a:xfrm>
          <a:prstGeom prst="rect">
            <a:avLst/>
          </a:prstGeom>
        </p:spPr>
      </p:pic>
      <p:pic>
        <p:nvPicPr>
          <p:cNvPr id="26" name="Picture 25" descr="Rankretouchedviewbook-1_cropped.jpg"/>
          <p:cNvPicPr>
            <a:picLocks noChangeAspect="1"/>
          </p:cNvPicPr>
          <p:nvPr userDrawn="1"/>
        </p:nvPicPr>
        <p:blipFill>
          <a:blip r:embed="rId19" cstate="print"/>
          <a:srcRect l="8913" r="9399" b="7442"/>
          <a:stretch>
            <a:fillRect/>
          </a:stretch>
        </p:blipFill>
        <p:spPr>
          <a:xfrm>
            <a:off x="7325360" y="5946973"/>
            <a:ext cx="914400" cy="911027"/>
          </a:xfrm>
          <a:prstGeom prst="rect">
            <a:avLst/>
          </a:prstGeom>
        </p:spPr>
      </p:pic>
      <p:pic>
        <p:nvPicPr>
          <p:cNvPr id="28" name="Picture 27" descr="IMG_3780_R_cropped.jpg"/>
          <p:cNvPicPr>
            <a:picLocks noChangeAspect="1"/>
          </p:cNvPicPr>
          <p:nvPr userDrawn="1"/>
        </p:nvPicPr>
        <p:blipFill>
          <a:blip r:embed="rId20" cstate="print"/>
          <a:srcRect l="7119" r="14291" b="12362"/>
          <a:stretch>
            <a:fillRect/>
          </a:stretch>
        </p:blipFill>
        <p:spPr>
          <a:xfrm>
            <a:off x="2804160" y="5946973"/>
            <a:ext cx="914400" cy="911027"/>
          </a:xfrm>
          <a:prstGeom prst="rect">
            <a:avLst/>
          </a:prstGeom>
        </p:spPr>
      </p:pic>
      <p:sp>
        <p:nvSpPr>
          <p:cNvPr id="7181" name="Rectangle 13"/>
          <p:cNvSpPr>
            <a:spLocks noChangeArrowheads="1"/>
          </p:cNvSpPr>
          <p:nvPr userDrawn="1"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52400"/>
            <a:ext cx="80010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80010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7180" name="Text Box 12"/>
          <p:cNvSpPr txBox="1">
            <a:spLocks noChangeArrowheads="1"/>
          </p:cNvSpPr>
          <p:nvPr userDrawn="1"/>
        </p:nvSpPr>
        <p:spPr bwMode="auto">
          <a:xfrm>
            <a:off x="2895600" y="533400"/>
            <a:ext cx="5791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en-US"/>
          </a:p>
        </p:txBody>
      </p:sp>
      <p:pic>
        <p:nvPicPr>
          <p:cNvPr id="29" name="Picture 28" descr="Andrea_398_cropped.jpg"/>
          <p:cNvPicPr>
            <a:picLocks noChangeAspect="1"/>
          </p:cNvPicPr>
          <p:nvPr userDrawn="1"/>
        </p:nvPicPr>
        <p:blipFill>
          <a:blip r:embed="rId21" cstate="print"/>
          <a:srcRect l="10437" r="10882" b="8992"/>
          <a:stretch>
            <a:fillRect/>
          </a:stretch>
        </p:blipFill>
        <p:spPr>
          <a:xfrm>
            <a:off x="8229600" y="5946973"/>
            <a:ext cx="914400" cy="911027"/>
          </a:xfrm>
          <a:prstGeom prst="rect">
            <a:avLst/>
          </a:prstGeom>
        </p:spPr>
      </p:pic>
      <p:pic>
        <p:nvPicPr>
          <p:cNvPr id="30" name="Picture 29" descr="Williams_109_R_cropped.jpg"/>
          <p:cNvPicPr>
            <a:picLocks noChangeAspect="1"/>
          </p:cNvPicPr>
          <p:nvPr userDrawn="1"/>
        </p:nvPicPr>
        <p:blipFill>
          <a:blip r:embed="rId22" cstate="print"/>
          <a:srcRect/>
          <a:stretch>
            <a:fillRect/>
          </a:stretch>
        </p:blipFill>
        <p:spPr>
          <a:xfrm>
            <a:off x="1808480" y="5943600"/>
            <a:ext cx="1005840" cy="914400"/>
          </a:xfrm>
          <a:prstGeom prst="rect">
            <a:avLst/>
          </a:prstGeom>
        </p:spPr>
      </p:pic>
      <p:pic>
        <p:nvPicPr>
          <p:cNvPr id="3" name="Picture 2" descr="Ravi_216r.jpg"/>
          <p:cNvPicPr>
            <a:picLocks noChangeAspect="1"/>
          </p:cNvPicPr>
          <p:nvPr userDrawn="1"/>
        </p:nvPicPr>
        <p:blipFill rotWithShape="1">
          <a:blip r:embed="rId2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45475" t="11752" r="6842" b="15401"/>
          <a:stretch/>
        </p:blipFill>
        <p:spPr>
          <a:xfrm>
            <a:off x="0" y="5914139"/>
            <a:ext cx="926735" cy="943861"/>
          </a:xfrm>
          <a:prstGeom prst="rect">
            <a:avLst/>
          </a:prstGeom>
        </p:spPr>
      </p:pic>
      <p:sp>
        <p:nvSpPr>
          <p:cNvPr id="7176" name="Rectangle 8"/>
          <p:cNvSpPr>
            <a:spLocks noChangeArrowheads="1"/>
          </p:cNvSpPr>
          <p:nvPr userDrawn="1"/>
        </p:nvSpPr>
        <p:spPr bwMode="auto">
          <a:xfrm>
            <a:off x="0" y="5867400"/>
            <a:ext cx="9144000" cy="78917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17.png"/><Relationship Id="rId7" Type="http://schemas.openxmlformats.org/officeDocument/2006/relationships/image" Target="../media/image2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jpeg"/><Relationship Id="rId4" Type="http://schemas.openxmlformats.org/officeDocument/2006/relationships/image" Target="../media/image18.jpeg"/><Relationship Id="rId9" Type="http://schemas.openxmlformats.org/officeDocument/2006/relationships/image" Target="../media/image23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eointernational.org/peo-projectsphilanthropies" TargetMode="External"/><Relationship Id="rId7" Type="http://schemas.openxmlformats.org/officeDocument/2006/relationships/hyperlink" Target="http://www.fordifp.net/" TargetMode="External"/><Relationship Id="rId2" Type="http://schemas.openxmlformats.org/officeDocument/2006/relationships/hyperlink" Target="http://foreign.fulbrightonline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cgsm.org/" TargetMode="External"/><Relationship Id="rId5" Type="http://schemas.openxmlformats.org/officeDocument/2006/relationships/hyperlink" Target="http://mcdonnell.wustl.edu/" TargetMode="External"/><Relationship Id="rId4" Type="http://schemas.openxmlformats.org/officeDocument/2006/relationships/hyperlink" Target="http://www.mmmf-grants.org/grants-us.html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mn-MN" dirty="0" smtClean="0"/>
              <a:t>АНУ-д Мастерт суралцах нь</a:t>
            </a:r>
            <a:endParaRPr lang="en-US" dirty="0" smtClean="0"/>
          </a:p>
        </p:txBody>
      </p:sp>
      <p:sp>
        <p:nvSpPr>
          <p:cNvPr id="3075" name="Rectangle 1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mn-MN" dirty="0" smtClean="0"/>
              <a:t>2012.06.16</a:t>
            </a:r>
          </a:p>
          <a:p>
            <a:pPr eaLnBrk="1" hangingPunct="1"/>
            <a:r>
              <a:rPr lang="mn-MN" dirty="0" smtClean="0"/>
              <a:t>Мөнхөөгийн Номинсүрэн </a:t>
            </a:r>
            <a:endParaRPr lang="en-US" dirty="0" smtClean="0"/>
          </a:p>
          <a:p>
            <a:pPr eaLnBrk="1" hangingPunct="1"/>
            <a:r>
              <a:rPr lang="en-US" dirty="0" smtClean="0"/>
              <a:t>nmunkhuu@wustl.edu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14901"/>
            <a:ext cx="8001000" cy="4123899"/>
          </a:xfrm>
        </p:spPr>
        <p:txBody>
          <a:bodyPr/>
          <a:lstStyle/>
          <a:p>
            <a:r>
              <a:rPr lang="en-US" sz="1800" dirty="0" smtClean="0"/>
              <a:t>Fall </a:t>
            </a:r>
            <a:r>
              <a:rPr lang="mn-MN" sz="1800" dirty="0" smtClean="0"/>
              <a:t>2011</a:t>
            </a:r>
            <a:r>
              <a:rPr lang="en-US" sz="1800" dirty="0" smtClean="0"/>
              <a:t>- Spring 2013</a:t>
            </a:r>
          </a:p>
          <a:p>
            <a:pPr lvl="1"/>
            <a:r>
              <a:rPr lang="en-US" sz="1800" dirty="0" smtClean="0"/>
              <a:t>MSW, Social Economic Development, Management</a:t>
            </a:r>
          </a:p>
          <a:p>
            <a:pPr lvl="1"/>
            <a:r>
              <a:rPr lang="en-US" sz="1800" dirty="0" smtClean="0"/>
              <a:t>George Warren Brown School of Social Work</a:t>
            </a:r>
          </a:p>
          <a:p>
            <a:pPr lvl="1">
              <a:buNone/>
            </a:pPr>
            <a:r>
              <a:rPr lang="en-US" sz="1800" dirty="0" smtClean="0"/>
              <a:t>    Washington University in St. Louis</a:t>
            </a:r>
            <a:endParaRPr lang="mn-MN" sz="1800" dirty="0" smtClean="0"/>
          </a:p>
          <a:p>
            <a:r>
              <a:rPr lang="en-US" sz="1800" dirty="0" smtClean="0"/>
              <a:t>Fall </a:t>
            </a:r>
            <a:r>
              <a:rPr lang="mn-MN" sz="1800" dirty="0" smtClean="0"/>
              <a:t>2008-</a:t>
            </a:r>
            <a:r>
              <a:rPr lang="en-US" sz="1800" dirty="0" smtClean="0"/>
              <a:t> Spring </a:t>
            </a:r>
            <a:r>
              <a:rPr lang="mn-MN" sz="1800" dirty="0" smtClean="0"/>
              <a:t>2010</a:t>
            </a:r>
          </a:p>
          <a:p>
            <a:pPr lvl="1"/>
            <a:r>
              <a:rPr lang="en-US" sz="1800" dirty="0" smtClean="0"/>
              <a:t>BSW, Psychology minor</a:t>
            </a:r>
          </a:p>
          <a:p>
            <a:pPr lvl="1"/>
            <a:r>
              <a:rPr lang="en-US" sz="1800" dirty="0" smtClean="0"/>
              <a:t>Park University</a:t>
            </a:r>
            <a:endParaRPr lang="mn-MN" sz="1800" dirty="0" smtClean="0"/>
          </a:p>
          <a:p>
            <a:r>
              <a:rPr lang="en-US" sz="1800" dirty="0" smtClean="0"/>
              <a:t>Fall </a:t>
            </a:r>
            <a:r>
              <a:rPr lang="mn-MN" sz="1800" dirty="0" smtClean="0"/>
              <a:t>2006-</a:t>
            </a:r>
            <a:r>
              <a:rPr lang="en-US" sz="1800" dirty="0" smtClean="0"/>
              <a:t> Spring </a:t>
            </a:r>
            <a:r>
              <a:rPr lang="mn-MN" sz="1800" dirty="0" smtClean="0"/>
              <a:t>2008</a:t>
            </a:r>
            <a:endParaRPr lang="en-US" sz="1800" dirty="0" smtClean="0"/>
          </a:p>
          <a:p>
            <a:pPr lvl="1"/>
            <a:r>
              <a:rPr lang="en-US" sz="1800" dirty="0" smtClean="0"/>
              <a:t>Associates of Arts, Pre-Law</a:t>
            </a:r>
          </a:p>
          <a:p>
            <a:r>
              <a:rPr lang="en-US" sz="1800" dirty="0" smtClean="0"/>
              <a:t>Spring 200</a:t>
            </a:r>
            <a:r>
              <a:rPr lang="mn-MN" sz="1800" dirty="0" smtClean="0"/>
              <a:t>6</a:t>
            </a:r>
            <a:endParaRPr lang="en-US" sz="1800" dirty="0" smtClean="0"/>
          </a:p>
          <a:p>
            <a:pPr lvl="1"/>
            <a:r>
              <a:rPr lang="en-US" sz="1800" dirty="0" smtClean="0"/>
              <a:t>Global Leadership Foundation</a:t>
            </a:r>
            <a:r>
              <a:rPr lang="en-US" sz="1600" dirty="0" smtClean="0"/>
              <a:t/>
            </a:r>
            <a:br>
              <a:rPr lang="en-US" sz="1600" dirty="0" smtClean="0"/>
            </a:br>
            <a:endParaRPr lang="en-US" sz="1600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Washington University in St. Louis</a:t>
            </a:r>
            <a:endParaRPr lang="en-US" dirty="0"/>
          </a:p>
        </p:txBody>
      </p:sp>
      <p:pic>
        <p:nvPicPr>
          <p:cNvPr id="4" name="Content Placeholder 3" descr="wustl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0" y="1136674"/>
            <a:ext cx="2988859" cy="2793882"/>
          </a:xfrm>
        </p:spPr>
      </p:pic>
      <p:pic>
        <p:nvPicPr>
          <p:cNvPr id="5" name="Picture 4" descr="conflict_newsart_72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961564" y="3023832"/>
            <a:ext cx="2866029" cy="2857500"/>
          </a:xfrm>
          <a:prstGeom prst="rect">
            <a:avLst/>
          </a:prstGeom>
        </p:spPr>
      </p:pic>
      <p:pic>
        <p:nvPicPr>
          <p:cNvPr id="6" name="Picture 5" descr="WUSTL_Pre-Master_Plan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800299" y="1160060"/>
            <a:ext cx="3343702" cy="32155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WashU</a:t>
            </a:r>
            <a:r>
              <a:rPr lang="en-US" dirty="0" smtClean="0"/>
              <a:t> </a:t>
            </a:r>
            <a:r>
              <a:rPr lang="mn-MN" dirty="0" smtClean="0"/>
              <a:t>салбар сургуулиуд</a:t>
            </a:r>
            <a:endParaRPr lang="en-US" dirty="0"/>
          </a:p>
        </p:txBody>
      </p:sp>
      <p:pic>
        <p:nvPicPr>
          <p:cNvPr id="4" name="Content Placeholder 3" descr="olin_logo.pn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310187" y="1323833"/>
            <a:ext cx="1910686" cy="1050878"/>
          </a:xfrm>
        </p:spPr>
      </p:pic>
      <p:pic>
        <p:nvPicPr>
          <p:cNvPr id="5" name="Picture 4" descr="wash_u_AS_logo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323832" y="2747749"/>
            <a:ext cx="1910687" cy="1223750"/>
          </a:xfrm>
          <a:prstGeom prst="rect">
            <a:avLst/>
          </a:prstGeom>
        </p:spPr>
      </p:pic>
      <p:pic>
        <p:nvPicPr>
          <p:cNvPr id="6" name="Picture 5" descr="head-r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11339" y="4167330"/>
            <a:ext cx="1943100" cy="1278128"/>
          </a:xfrm>
          <a:prstGeom prst="rect">
            <a:avLst/>
          </a:prstGeom>
        </p:spPr>
      </p:pic>
      <p:pic>
        <p:nvPicPr>
          <p:cNvPr id="7" name="Picture 6" descr="Brown_Logosmall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960693" y="2749170"/>
            <a:ext cx="1905000" cy="1714500"/>
          </a:xfrm>
          <a:prstGeom prst="rect">
            <a:avLst/>
          </a:prstGeom>
        </p:spPr>
      </p:pic>
      <p:pic>
        <p:nvPicPr>
          <p:cNvPr id="9" name="Picture 8" descr="WUSTL-Engineering_two-line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189863" y="1364776"/>
            <a:ext cx="2279175" cy="1091819"/>
          </a:xfrm>
          <a:prstGeom prst="rect">
            <a:avLst/>
          </a:prstGeom>
        </p:spPr>
      </p:pic>
      <p:pic>
        <p:nvPicPr>
          <p:cNvPr id="10" name="Picture 9" descr="SamFox-2line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6455391" y="2674961"/>
            <a:ext cx="2342723" cy="1323976"/>
          </a:xfrm>
          <a:prstGeom prst="rect">
            <a:avLst/>
          </a:prstGeom>
        </p:spPr>
      </p:pic>
      <p:pic>
        <p:nvPicPr>
          <p:cNvPr id="11" name="Picture 10" descr="logoWulaw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3111049" y="4572000"/>
            <a:ext cx="4067673" cy="9544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 dirty="0" smtClean="0"/>
              <a:t>Сургуулиа яаж сонгох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mn-MN" dirty="0" smtClean="0"/>
              <a:t>Ямар мэргэжлээр сурах вэ?</a:t>
            </a:r>
          </a:p>
          <a:p>
            <a:r>
              <a:rPr lang="mn-MN" dirty="0" smtClean="0"/>
              <a:t>Сургуулийн төлбөр</a:t>
            </a:r>
          </a:p>
          <a:p>
            <a:r>
              <a:rPr lang="mn-MN" dirty="0" smtClean="0"/>
              <a:t>Сургуулийн нэр хүнд</a:t>
            </a:r>
          </a:p>
          <a:p>
            <a:r>
              <a:rPr lang="mn-MN" dirty="0" smtClean="0"/>
              <a:t>Сургуулийн хөтөлбөр</a:t>
            </a:r>
          </a:p>
          <a:p>
            <a:r>
              <a:rPr lang="mn-MN" dirty="0" smtClean="0"/>
              <a:t>Сургуулийн байршил </a:t>
            </a:r>
          </a:p>
          <a:p>
            <a:r>
              <a:rPr lang="mn-MN" dirty="0" smtClean="0"/>
              <a:t>Олон улсын оюутанд сургуулиас өгөх тэтгэлэгийн дээд хэмжээ</a:t>
            </a:r>
          </a:p>
          <a:p>
            <a:r>
              <a:rPr lang="mn-MN" dirty="0" smtClean="0"/>
              <a:t>Монголоос өмнө оюутан байсан эсэх</a:t>
            </a:r>
          </a:p>
          <a:p>
            <a:pPr>
              <a:buNone/>
            </a:pPr>
            <a:endParaRPr lang="mn-MN" dirty="0" smtClean="0"/>
          </a:p>
          <a:p>
            <a:endParaRPr lang="mn-MN" dirty="0" smtClean="0"/>
          </a:p>
          <a:p>
            <a:endParaRPr lang="mn-MN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 dirty="0" smtClean="0"/>
              <a:t/>
            </a:r>
            <a:br>
              <a:rPr lang="mn-MN" dirty="0" smtClean="0"/>
            </a:br>
            <a:r>
              <a:rPr lang="mn-MN" dirty="0" smtClean="0"/>
              <a:t>Бүртгэлүүлэхэд шаардагдах материал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000" dirty="0" smtClean="0"/>
              <a:t>Application fee</a:t>
            </a:r>
          </a:p>
          <a:p>
            <a:r>
              <a:rPr lang="en-US" sz="2000" dirty="0" smtClean="0"/>
              <a:t>Application form (online)</a:t>
            </a:r>
          </a:p>
          <a:p>
            <a:r>
              <a:rPr lang="en-US" sz="2000" dirty="0" smtClean="0"/>
              <a:t>Academic transcripts</a:t>
            </a:r>
          </a:p>
          <a:p>
            <a:r>
              <a:rPr lang="en-US" sz="2000" dirty="0" smtClean="0"/>
              <a:t>Personal/Professional statement/Essay</a:t>
            </a:r>
          </a:p>
          <a:p>
            <a:r>
              <a:rPr lang="en-US" sz="2000" dirty="0" smtClean="0"/>
              <a:t>CV/Resume</a:t>
            </a:r>
          </a:p>
          <a:p>
            <a:r>
              <a:rPr lang="en-US" sz="2000" dirty="0" smtClean="0"/>
              <a:t>2-3 Letters of Recommendation </a:t>
            </a:r>
          </a:p>
          <a:p>
            <a:r>
              <a:rPr lang="en-US" sz="2000" dirty="0" smtClean="0"/>
              <a:t>GRE/GMAT/LSAT score</a:t>
            </a:r>
          </a:p>
          <a:p>
            <a:r>
              <a:rPr lang="en-US" sz="2000" dirty="0" smtClean="0"/>
              <a:t>TOEFL or IELTS</a:t>
            </a:r>
          </a:p>
          <a:p>
            <a:r>
              <a:rPr lang="en-US" sz="2000" dirty="0" smtClean="0"/>
              <a:t>Interview</a:t>
            </a:r>
          </a:p>
          <a:p>
            <a:pPr>
              <a:buNone/>
            </a:pPr>
            <a:endParaRPr lang="en-US" sz="2000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mn-MN" sz="2000" dirty="0" smtClean="0"/>
              <a:t>Бүртгэлийн хураамж</a:t>
            </a:r>
            <a:endParaRPr lang="en-US" sz="2000" dirty="0" smtClean="0"/>
          </a:p>
          <a:p>
            <a:r>
              <a:rPr lang="mn-MN" sz="2000" dirty="0" smtClean="0"/>
              <a:t>Бүртгэлийн хуудас</a:t>
            </a:r>
          </a:p>
          <a:p>
            <a:r>
              <a:rPr lang="mn-MN" sz="2000" dirty="0" smtClean="0"/>
              <a:t>Дүнгийн хуулга</a:t>
            </a:r>
          </a:p>
          <a:p>
            <a:r>
              <a:rPr lang="mn-MN" sz="2000" dirty="0" smtClean="0"/>
              <a:t>Эссе/Зорилгын илэрхийлэл</a:t>
            </a:r>
          </a:p>
          <a:p>
            <a:r>
              <a:rPr lang="mn-MN" sz="2000" dirty="0" smtClean="0"/>
              <a:t>Товч намтар</a:t>
            </a:r>
          </a:p>
          <a:p>
            <a:r>
              <a:rPr lang="mn-MN" sz="2000" dirty="0" smtClean="0"/>
              <a:t>2-3 Тодорхойлох захианууд</a:t>
            </a:r>
          </a:p>
          <a:p>
            <a:r>
              <a:rPr lang="en-US" sz="2000" dirty="0" smtClean="0"/>
              <a:t>GRE/GMAT/LSAT </a:t>
            </a:r>
            <a:r>
              <a:rPr lang="mn-MN" sz="2000" dirty="0" smtClean="0"/>
              <a:t>оноо</a:t>
            </a:r>
          </a:p>
          <a:p>
            <a:r>
              <a:rPr lang="en-US" sz="2000" dirty="0" smtClean="0"/>
              <a:t>TOEFL</a:t>
            </a:r>
            <a:r>
              <a:rPr lang="mn-MN" sz="2000" dirty="0" smtClean="0"/>
              <a:t>/</a:t>
            </a:r>
            <a:r>
              <a:rPr lang="en-US" sz="2000" dirty="0" smtClean="0"/>
              <a:t>IELTS</a:t>
            </a:r>
            <a:r>
              <a:rPr lang="mn-MN" sz="2000" dirty="0" smtClean="0"/>
              <a:t> оноо</a:t>
            </a:r>
          </a:p>
          <a:p>
            <a:r>
              <a:rPr lang="mn-MN" sz="2000" dirty="0" smtClean="0"/>
              <a:t>Ярилцлага</a:t>
            </a:r>
            <a:endParaRPr lang="en-US" sz="2000" dirty="0" smtClean="0"/>
          </a:p>
          <a:p>
            <a:endParaRPr lang="mn-MN" sz="2000" dirty="0" smtClean="0"/>
          </a:p>
          <a:p>
            <a:pPr>
              <a:buNone/>
            </a:pPr>
            <a:endParaRPr lang="en-US" sz="2000" dirty="0" smtClean="0"/>
          </a:p>
          <a:p>
            <a:endParaRPr lang="mn-MN" dirty="0" smtClean="0"/>
          </a:p>
          <a:p>
            <a:endParaRPr lang="mn-MN" dirty="0" smtClean="0"/>
          </a:p>
          <a:p>
            <a:pPr>
              <a:buNone/>
            </a:pPr>
            <a:r>
              <a:rPr lang="mn-MN" dirty="0" smtClean="0"/>
              <a:t>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GRE vs. GMAT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0" y="1155007"/>
          <a:ext cx="9144000" cy="57029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  <a:gridCol w="3048000"/>
              </a:tblGrid>
              <a:tr h="48817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GMAT</a:t>
                      </a:r>
                      <a:endParaRPr lang="en-US" dirty="0"/>
                    </a:p>
                  </a:txBody>
                  <a:tcPr/>
                </a:tc>
              </a:tr>
              <a:tr h="1524911">
                <a:tc>
                  <a:txBody>
                    <a:bodyPr/>
                    <a:lstStyle/>
                    <a:p>
                      <a:r>
                        <a:rPr lang="mn-MN" dirty="0" smtClean="0"/>
                        <a:t>Тест</a:t>
                      </a:r>
                      <a:r>
                        <a:rPr lang="mn-MN" baseline="0" dirty="0" smtClean="0"/>
                        <a:t> өгөх шалтгаан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n-MN" dirty="0" smtClean="0"/>
                        <a:t>Ихэнхи</a:t>
                      </a:r>
                      <a:r>
                        <a:rPr lang="mn-MN" baseline="0" dirty="0" smtClean="0"/>
                        <a:t> мастерийн сургуулиуд болон 250 бизнесийн  сургуулиудад элсэхэд шаардагдана.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n-MN" baseline="0" dirty="0" smtClean="0"/>
                        <a:t>Ихэнхи бизнесийн  сургуулиудад элсэхэд шаардагдана</a:t>
                      </a:r>
                      <a:endParaRPr lang="en-US" dirty="0"/>
                    </a:p>
                  </a:txBody>
                  <a:tcPr/>
                </a:tc>
              </a:tr>
              <a:tr h="1524911">
                <a:tc>
                  <a:txBody>
                    <a:bodyPr/>
                    <a:lstStyle/>
                    <a:p>
                      <a:r>
                        <a:rPr lang="mn-MN" dirty="0" smtClean="0"/>
                        <a:t>Тестийн</a:t>
                      </a:r>
                      <a:r>
                        <a:rPr lang="mn-MN" baseline="0" dirty="0" smtClean="0"/>
                        <a:t> бүтэц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n-MN" dirty="0" smtClean="0"/>
                        <a:t>75 минут</a:t>
                      </a:r>
                      <a:r>
                        <a:rPr lang="mn-MN" baseline="0" dirty="0" smtClean="0"/>
                        <a:t> анализ бичгийн, 30 минут өгүүлбэр үг зүйн ойлголт, 45 минут тооны хэсгүүдтэй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n-MN" dirty="0" smtClean="0"/>
                        <a:t>30 минут</a:t>
                      </a:r>
                      <a:r>
                        <a:rPr lang="mn-MN" baseline="0" dirty="0" smtClean="0"/>
                        <a:t> анализ бичгийн, 75 минут тоо, 75 минут өгүүлбэр үг зүйн хэсгүүд</a:t>
                      </a:r>
                      <a:endParaRPr lang="en-US" dirty="0"/>
                    </a:p>
                  </a:txBody>
                  <a:tcPr/>
                </a:tc>
              </a:tr>
              <a:tr h="381228">
                <a:tc>
                  <a:txBody>
                    <a:bodyPr/>
                    <a:lstStyle/>
                    <a:p>
                      <a:r>
                        <a:rPr lang="mn-MN" dirty="0" smtClean="0"/>
                        <a:t>Тест</a:t>
                      </a:r>
                      <a:r>
                        <a:rPr lang="mn-MN" baseline="0" dirty="0" smtClean="0"/>
                        <a:t> авах хэлбэр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n-MN" dirty="0" smtClean="0"/>
                        <a:t>Цаас, компютер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n-MN" dirty="0" smtClean="0"/>
                        <a:t>Компютер</a:t>
                      </a:r>
                      <a:endParaRPr lang="en-US" dirty="0"/>
                    </a:p>
                  </a:txBody>
                  <a:tcPr/>
                </a:tc>
              </a:tr>
              <a:tr h="381228">
                <a:tc>
                  <a:txBody>
                    <a:bodyPr/>
                    <a:lstStyle/>
                    <a:p>
                      <a:r>
                        <a:rPr lang="mn-MN" dirty="0" smtClean="0"/>
                        <a:t>Оноо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n-MN" dirty="0" smtClean="0"/>
                        <a:t>120-180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n-MN" dirty="0" smtClean="0"/>
                        <a:t>200-800</a:t>
                      </a:r>
                      <a:endParaRPr lang="en-US" dirty="0"/>
                    </a:p>
                  </a:txBody>
                  <a:tcPr/>
                </a:tc>
              </a:tr>
              <a:tr h="381228">
                <a:tc>
                  <a:txBody>
                    <a:bodyPr/>
                    <a:lstStyle/>
                    <a:p>
                      <a:r>
                        <a:rPr lang="mn-MN" dirty="0" smtClean="0"/>
                        <a:t>Үнэ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$</a:t>
                      </a:r>
                      <a:r>
                        <a:rPr lang="mn-MN" dirty="0" smtClean="0"/>
                        <a:t>160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$</a:t>
                      </a:r>
                      <a:r>
                        <a:rPr lang="mn-MN" dirty="0" smtClean="0"/>
                        <a:t>250</a:t>
                      </a:r>
                      <a:endParaRPr lang="en-US" dirty="0"/>
                    </a:p>
                  </a:txBody>
                  <a:tcPr/>
                </a:tc>
              </a:tr>
              <a:tr h="381228">
                <a:tc>
                  <a:txBody>
                    <a:bodyPr/>
                    <a:lstStyle/>
                    <a:p>
                      <a:r>
                        <a:rPr lang="mn-MN" dirty="0" smtClean="0"/>
                        <a:t>Тест</a:t>
                      </a:r>
                      <a:r>
                        <a:rPr lang="mn-MN" baseline="0" dirty="0" smtClean="0"/>
                        <a:t> авах хугацаа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n-MN" dirty="0" smtClean="0"/>
                        <a:t>3+ цаг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n-MN" dirty="0" smtClean="0"/>
                        <a:t>3.5 цаг</a:t>
                      </a:r>
                      <a:endParaRPr lang="en-US" dirty="0"/>
                    </a:p>
                  </a:txBody>
                  <a:tcPr/>
                </a:tc>
              </a:tr>
              <a:tr h="625670">
                <a:tc>
                  <a:txBody>
                    <a:bodyPr/>
                    <a:lstStyle/>
                    <a:p>
                      <a:r>
                        <a:rPr lang="mn-MN" dirty="0" smtClean="0"/>
                        <a:t>Тестийн онооны</a:t>
                      </a:r>
                      <a:r>
                        <a:rPr lang="mn-MN" baseline="0" dirty="0" smtClean="0"/>
                        <a:t> хүчинтэй хугацаа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 </a:t>
                      </a:r>
                      <a:r>
                        <a:rPr lang="mn-MN" dirty="0" smtClean="0"/>
                        <a:t>жил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n-MN" dirty="0" smtClean="0"/>
                        <a:t>5 жил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 dirty="0" smtClean="0"/>
              <a:t>Бусдаас онцгой бай</a:t>
            </a:r>
            <a:endParaRPr lang="en-US" dirty="0"/>
          </a:p>
        </p:txBody>
      </p:sp>
      <p:pic>
        <p:nvPicPr>
          <p:cNvPr id="4" name="Content Placeholder 3" descr="stock-photo-2248298-be-different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1199314"/>
            <a:ext cx="9144000" cy="461489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 dirty="0" smtClean="0"/>
              <a:t>Тэтгэлэгийн сурвалжууд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3336" y="1375913"/>
            <a:ext cx="8001000" cy="4300268"/>
          </a:xfrm>
          <a:noFill/>
        </p:spPr>
        <p:txBody>
          <a:bodyPr/>
          <a:lstStyle/>
          <a:p>
            <a:r>
              <a:rPr lang="en-US" sz="1800" dirty="0" smtClean="0"/>
              <a:t>Fulbright Foreign Student Program</a:t>
            </a:r>
          </a:p>
          <a:p>
            <a:pPr marL="742950" lvl="2" indent="-342900"/>
            <a:r>
              <a:rPr lang="en-US" dirty="0" smtClean="0">
                <a:hlinkClick r:id="rId2"/>
              </a:rPr>
              <a:t>http://foreign.fulbrightonline.org/</a:t>
            </a:r>
            <a:endParaRPr lang="en-US" dirty="0" smtClean="0"/>
          </a:p>
          <a:p>
            <a:r>
              <a:rPr lang="en-US" sz="1800" dirty="0" smtClean="0"/>
              <a:t>Philanthropic Educational Organization International Peace Scholarship (women)</a:t>
            </a:r>
          </a:p>
          <a:p>
            <a:pPr marL="742950" lvl="2" indent="-342900"/>
            <a:r>
              <a:rPr lang="en-US" dirty="0" smtClean="0">
                <a:hlinkClick r:id="rId3"/>
              </a:rPr>
              <a:t>http://www.peointernational.org/peo-projectsphilanthropies</a:t>
            </a:r>
            <a:r>
              <a:rPr lang="en-US" dirty="0" smtClean="0"/>
              <a:t> </a:t>
            </a:r>
          </a:p>
          <a:p>
            <a:r>
              <a:rPr lang="en-US" sz="1800" dirty="0" smtClean="0"/>
              <a:t>The World Bank - The Margaret McNamara Memorial Fund</a:t>
            </a:r>
          </a:p>
          <a:p>
            <a:pPr marL="742950" lvl="2" indent="-342900"/>
            <a:r>
              <a:rPr lang="en-US" dirty="0" smtClean="0">
                <a:hlinkClick r:id="rId4"/>
              </a:rPr>
              <a:t>http://www.mmmf-grants.org/grants-us.html</a:t>
            </a:r>
            <a:r>
              <a:rPr lang="en-US" dirty="0" smtClean="0"/>
              <a:t> </a:t>
            </a:r>
          </a:p>
          <a:p>
            <a:r>
              <a:rPr lang="en-US" sz="1800" dirty="0" smtClean="0"/>
              <a:t>McDonnell International Scholars Academy</a:t>
            </a:r>
          </a:p>
          <a:p>
            <a:pPr marL="742950" lvl="2" indent="-342900"/>
            <a:r>
              <a:rPr lang="en-US" dirty="0" smtClean="0">
                <a:hlinkClick r:id="rId5"/>
              </a:rPr>
              <a:t>http://mcdonnell.wustl.edu/</a:t>
            </a:r>
            <a:endParaRPr lang="en-US" dirty="0" smtClean="0"/>
          </a:p>
          <a:p>
            <a:r>
              <a:rPr lang="en-US" sz="1800" b="1" dirty="0" smtClean="0">
                <a:hlinkClick r:id="rId6"/>
              </a:rPr>
              <a:t>Consortium for Graduate Study Management (CGSM)</a:t>
            </a:r>
            <a:endParaRPr lang="en-US" sz="1800" b="1" dirty="0" smtClean="0"/>
          </a:p>
          <a:p>
            <a:pPr marL="742950" lvl="2" indent="-342900"/>
            <a:r>
              <a:rPr lang="en-US" dirty="0" smtClean="0">
                <a:hlinkClick r:id="rId6"/>
              </a:rPr>
              <a:t>http://www.cgsm.org/</a:t>
            </a:r>
            <a:endParaRPr lang="en-US" b="1" dirty="0" smtClean="0"/>
          </a:p>
          <a:p>
            <a:r>
              <a:rPr lang="en-US" sz="1800" dirty="0" smtClean="0"/>
              <a:t>Ford Foundation International Fellowship Program</a:t>
            </a:r>
          </a:p>
          <a:p>
            <a:pPr lvl="1">
              <a:buFont typeface="Wingdings" pitchFamily="2" charset="2"/>
              <a:buChar char="§"/>
            </a:pPr>
            <a:r>
              <a:rPr lang="en-US" sz="1800" dirty="0" smtClean="0">
                <a:hlinkClick r:id="rId7"/>
              </a:rPr>
              <a:t>http://www.fordifp.net</a:t>
            </a:r>
            <a:r>
              <a:rPr lang="en-US" sz="1000" dirty="0" smtClean="0">
                <a:hlinkClick r:id="rId7"/>
              </a:rPr>
              <a:t>/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 dirty="0" smtClean="0"/>
              <a:t>Миний алдааг бүү давтаарай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mn-MN" dirty="0" smtClean="0"/>
              <a:t>Аль болох эрт шалгалтаа өгч сургуульдаа бүртгүүл</a:t>
            </a:r>
          </a:p>
          <a:p>
            <a:r>
              <a:rPr lang="mn-MN" dirty="0" smtClean="0"/>
              <a:t>Битгий их хэмжээний тэтгэлэг сургуулиас авна гэж найд</a:t>
            </a:r>
          </a:p>
          <a:p>
            <a:r>
              <a:rPr lang="en-US" dirty="0" smtClean="0"/>
              <a:t>External Scholarship database-</a:t>
            </a:r>
            <a:r>
              <a:rPr lang="mn-MN" dirty="0" smtClean="0"/>
              <a:t>г бүртгүүлж буй бүх сургуулиасаа шууд асуу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Content Placeholder 5" descr="images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1214847"/>
            <a:ext cx="9144000" cy="458210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LongProperties xmlns="http://schemas.microsoft.com/office/2006/metadata/longProperties"/>
</file>

<file path=customXml/item3.xml><?xml version="1.0" encoding="utf-8"?>
<p:properties xmlns:p="http://schemas.microsoft.com/office/2006/metadata/properties" xmlns:xsi="http://www.w3.org/2001/XMLSchema-instance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522C38C987F74CBB2F7F816FC8B203" ma:contentTypeVersion="1" ma:contentTypeDescription="Create a new document." ma:contentTypeScope="" ma:versionID="aba75489499d7d3902a093e5494a2e64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a447206dab0015f8b9f8924535193e8c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A9D7646-C0A6-4BB0-99E6-1E23FA756BD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80A8C4-C651-408C-9FA2-C842A6198F6E}">
  <ds:schemaRefs>
    <ds:schemaRef ds:uri="http://schemas.microsoft.com/office/2006/metadata/longProperties"/>
  </ds:schemaRefs>
</ds:datastoreItem>
</file>

<file path=customXml/itemProps3.xml><?xml version="1.0" encoding="utf-8"?>
<ds:datastoreItem xmlns:ds="http://schemas.openxmlformats.org/officeDocument/2006/customXml" ds:itemID="{BD691410-AC39-4457-A419-4DEA93FC3410}">
  <ds:schemaRefs>
    <ds:schemaRef ds:uri="http://schemas.microsoft.com/office/2006/metadata/properties"/>
    <ds:schemaRef ds:uri="http://schemas.microsoft.com/sharepoint/v3"/>
  </ds:schemaRefs>
</ds:datastoreItem>
</file>

<file path=customXml/itemProps4.xml><?xml version="1.0" encoding="utf-8"?>
<ds:datastoreItem xmlns:ds="http://schemas.openxmlformats.org/officeDocument/2006/customXml" ds:itemID="{6B5C14BC-E7B5-4AD8-A44C-4E872998FD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1660</TotalTime>
  <Words>453</Words>
  <Application>Microsoft Office PowerPoint</Application>
  <PresentationFormat>On-screen Show (4:3)</PresentationFormat>
  <Paragraphs>113</Paragraphs>
  <Slides>11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1_Default Design</vt:lpstr>
      <vt:lpstr>АНУ-д Мастерт суралцах нь</vt:lpstr>
      <vt:lpstr>Slide 2</vt:lpstr>
      <vt:lpstr>Washington University in St. Louis</vt:lpstr>
      <vt:lpstr>WashU салбар сургуулиуд</vt:lpstr>
      <vt:lpstr>Сургуулиа яаж сонгох</vt:lpstr>
      <vt:lpstr> Бүртгэлүүлэхэд шаардагдах материал</vt:lpstr>
      <vt:lpstr>GRE vs. GMAT</vt:lpstr>
      <vt:lpstr>Бусдаас онцгой бай</vt:lpstr>
      <vt:lpstr>Тэтгэлэгийн сурвалжууд</vt:lpstr>
      <vt:lpstr>Миний алдааг бүү давтаарай</vt:lpstr>
      <vt:lpstr>Slide 11</vt:lpstr>
    </vt:vector>
  </TitlesOfParts>
  <Company>Washington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no logo with pictures</dc:title>
  <dc:creator>oit_main</dc:creator>
  <cp:lastModifiedBy>Mongol</cp:lastModifiedBy>
  <cp:revision>196</cp:revision>
  <dcterms:created xsi:type="dcterms:W3CDTF">2006-11-13T02:54:34Z</dcterms:created>
  <dcterms:modified xsi:type="dcterms:W3CDTF">2012-06-16T05:04:59Z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">
    <vt:lpwstr>Document</vt:lpwstr>
  </property>
  <property fmtid="{D5CDD505-2E9C-101B-9397-08002B2CF9AE}" pid="3" name="ContentTypeId">
    <vt:lpwstr>0x010100E3522C38C987F74CBB2F7F816FC8B203</vt:lpwstr>
  </property>
  <property fmtid="{D5CDD505-2E9C-101B-9397-08002B2CF9AE}" pid="4" name="Order">
    <vt:r8>1800</vt:r8>
  </property>
  <property fmtid="{D5CDD505-2E9C-101B-9397-08002B2CF9AE}" pid="5" name="TemplateUrl">
    <vt:lpwstr/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_SourceUrl">
    <vt:lpwstr/>
  </property>
</Properties>
</file>