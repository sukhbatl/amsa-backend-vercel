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59" r:id="rId5"/>
    <p:sldId id="264" r:id="rId6"/>
    <p:sldId id="258" r:id="rId7"/>
    <p:sldId id="261" r:id="rId8"/>
    <p:sldId id="262" r:id="rId9"/>
    <p:sldId id="263" r:id="rId10"/>
    <p:sldId id="267" r:id="rId11"/>
    <p:sldId id="268" r:id="rId12"/>
    <p:sldId id="269" r:id="rId13"/>
    <p:sldId id="270" r:id="rId14"/>
    <p:sldId id="271" r:id="rId15"/>
    <p:sldId id="272" r:id="rId16"/>
    <p:sldId id="273" r:id="rId17"/>
    <p:sldId id="274" r:id="rId18"/>
    <p:sldId id="275" r:id="rId19"/>
    <p:sldId id="285" r:id="rId20"/>
    <p:sldId id="278" r:id="rId21"/>
    <p:sldId id="279" r:id="rId22"/>
    <p:sldId id="280" r:id="rId23"/>
    <p:sldId id="281" r:id="rId24"/>
    <p:sldId id="282" r:id="rId25"/>
    <p:sldId id="283" r:id="rId26"/>
    <p:sldId id="284" r:id="rId27"/>
    <p:sldId id="276"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4" d="100"/>
          <a:sy n="94" d="100"/>
        </p:scale>
        <p:origin x="-128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1637B1C-12C9-4909-BBAD-9704357418D7}" type="datetimeFigureOut">
              <a:rPr lang="en-US" smtClean="0"/>
              <a:t>6/26/2012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1C371-ACF1-4B73-BE73-E7C62DA182A5}" type="slidenum">
              <a:rPr lang="en-US" smtClean="0"/>
              <a:t>‹#›</a:t>
            </a:fld>
            <a:endParaRPr lang="en-US"/>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637B1C-12C9-4909-BBAD-9704357418D7}" type="datetimeFigureOut">
              <a:rPr lang="en-US" smtClean="0"/>
              <a:t>6/26/2012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1C371-ACF1-4B73-BE73-E7C62DA182A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637B1C-12C9-4909-BBAD-9704357418D7}" type="datetimeFigureOut">
              <a:rPr lang="en-US" smtClean="0"/>
              <a:t>6/26/2012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1C371-ACF1-4B73-BE73-E7C62DA182A5}" type="slidenum">
              <a:rPr lang="en-US" smtClean="0"/>
              <a:t>‹#›</a:t>
            </a:fld>
            <a:endParaRPr lang="en-US"/>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1637B1C-12C9-4909-BBAD-9704357418D7}" type="datetimeFigureOut">
              <a:rPr lang="en-US" smtClean="0"/>
              <a:t>6/26/2012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51C371-ACF1-4B73-BE73-E7C62DA182A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1637B1C-12C9-4909-BBAD-9704357418D7}" type="datetimeFigureOut">
              <a:rPr lang="en-US" smtClean="0"/>
              <a:t>6/26/2012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51C371-ACF1-4B73-BE73-E7C62DA182A5}" type="slidenum">
              <a:rPr lang="en-US" smtClean="0"/>
              <a:t>‹#›</a:t>
            </a:fld>
            <a:endParaRPr lang="en-US"/>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1637B1C-12C9-4909-BBAD-9704357418D7}" type="datetimeFigureOut">
              <a:rPr lang="en-US" smtClean="0"/>
              <a:t>6/26/2012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51C371-ACF1-4B73-BE73-E7C62DA182A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37B1C-12C9-4909-BBAD-9704357418D7}" type="datetimeFigureOut">
              <a:rPr lang="en-US" smtClean="0"/>
              <a:t>6/26/2012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51C371-ACF1-4B73-BE73-E7C62DA182A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en-US" smtClean="0"/>
              <a:t>Click to edit Master title style</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637B1C-12C9-4909-BBAD-9704357418D7}" type="datetimeFigureOut">
              <a:rPr lang="en-US" smtClean="0"/>
              <a:t>6/26/2012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51C371-ACF1-4B73-BE73-E7C62DA182A5}" type="slidenum">
              <a:rPr lang="en-US" smtClean="0"/>
              <a:t>‹#›</a:t>
            </a:fld>
            <a:endParaRPr lang="en-US"/>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en-US" smtClean="0"/>
              <a:t>Click to edit Master title style</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637B1C-12C9-4909-BBAD-9704357418D7}" type="datetimeFigureOut">
              <a:rPr lang="en-US" smtClean="0"/>
              <a:t>6/26/2012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51C371-ACF1-4B73-BE73-E7C62DA182A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637B1C-12C9-4909-BBAD-9704357418D7}" type="datetimeFigureOut">
              <a:rPr lang="en-US" smtClean="0"/>
              <a:t>6/26/2012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1C371-ACF1-4B73-BE73-E7C62DA182A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637B1C-12C9-4909-BBAD-9704357418D7}" type="datetimeFigureOut">
              <a:rPr lang="en-US" smtClean="0"/>
              <a:t>6/26/2012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1C371-ACF1-4B73-BE73-E7C62DA182A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noProof="0" smtClean="0"/>
              <a:t>Click to edit Master title style</a:t>
            </a:r>
            <a:endParaRPr lang="en-US" noProof="0" dirty="0"/>
          </a:p>
        </p:txBody>
      </p:sp>
      <p:sp>
        <p:nvSpPr>
          <p:cNvPr id="7" name="Subtitle0"/>
          <p:cNvSpPr>
            <a:spLocks noGrp="1"/>
          </p:cNvSpPr>
          <p:nvPr>
            <p:ph type="body" idx="13" hasCustomPrompt="1"/>
          </p:nvPr>
        </p:nvSpPr>
        <p:spPr>
          <a:xfrm>
            <a:off x="358775" y="765175"/>
            <a:ext cx="8424000" cy="307777"/>
          </a:xfrm>
        </p:spPr>
        <p:txBody>
          <a:bodyPr vert="horz" lIns="0" tIns="0" rIns="0" bIns="0" rtlCol="0" anchor="t" anchorCtr="0">
            <a:spAutoFit/>
          </a:bodyPr>
          <a:lstStyle>
            <a:lvl1pPr marL="0" indent="0" algn="l" defTabSz="914400" rtl="0" eaLnBrk="1" latinLnBrk="0" hangingPunct="1">
              <a:spcBef>
                <a:spcPct val="0"/>
              </a:spcBef>
              <a:buNone/>
              <a:defRPr lang="en-US" sz="2000" b="0" kern="1200" dirty="0" smtClean="0">
                <a:solidFill>
                  <a:schemeClr val="tx2"/>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add subtitle</a:t>
            </a:r>
          </a:p>
        </p:txBody>
      </p:sp>
      <p:cxnSp>
        <p:nvCxnSpPr>
          <p:cNvPr id="13" name="Straight Arrow Connector 12"/>
          <p:cNvCxnSpPr/>
          <p:nvPr/>
        </p:nvCxnSpPr>
        <p:spPr>
          <a:xfrm>
            <a:off x="-858177" y="6303600"/>
            <a:ext cx="720000" cy="1588"/>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53590" y="7010598"/>
            <a:ext cx="0" cy="360000"/>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8776800" y="7010598"/>
            <a:ext cx="0" cy="360000"/>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858177" y="1259305"/>
            <a:ext cx="720000" cy="1588"/>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58177" y="763468"/>
            <a:ext cx="720000" cy="1588"/>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392000" y="7010598"/>
            <a:ext cx="0" cy="360000"/>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752000" y="7010598"/>
            <a:ext cx="0" cy="360000"/>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817775" y="6581001"/>
            <a:ext cx="1679598" cy="276999"/>
          </a:xfrm>
          <a:prstGeom prst="rect">
            <a:avLst/>
          </a:prstGeom>
          <a:noFill/>
        </p:spPr>
        <p:txBody>
          <a:bodyPr wrap="square" lIns="0" tIns="0" rIns="0" bIns="0" rtlCol="0">
            <a:spAutoFit/>
          </a:bodyPr>
          <a:lstStyle/>
          <a:p>
            <a:pPr algn="r">
              <a:spcAft>
                <a:spcPts val="300"/>
              </a:spcAft>
            </a:pPr>
            <a:r>
              <a:rPr lang="en-US" sz="900" baseline="0" noProof="0" dirty="0" smtClean="0">
                <a:solidFill>
                  <a:schemeClr val="bg1"/>
                </a:solidFill>
              </a:rPr>
              <a:t>White markers</a:t>
            </a:r>
            <a:r>
              <a:rPr lang="en-US" sz="900" dirty="0" smtClean="0">
                <a:solidFill>
                  <a:schemeClr val="bg1"/>
                </a:solidFill>
              </a:rPr>
              <a:t> indicate position of Deloitte Drawing Guides</a:t>
            </a:r>
            <a:endParaRPr lang="en-US" sz="900" baseline="0" noProof="0" dirty="0" smtClean="0">
              <a:solidFill>
                <a:schemeClr val="bg1"/>
              </a:solidFill>
            </a:endParaRPr>
          </a:p>
        </p:txBody>
      </p:sp>
      <p:sp>
        <p:nvSpPr>
          <p:cNvPr id="24" name="TextBox 23"/>
          <p:cNvSpPr txBox="1"/>
          <p:nvPr/>
        </p:nvSpPr>
        <p:spPr>
          <a:xfrm>
            <a:off x="-941463" y="897379"/>
            <a:ext cx="803286" cy="253916"/>
          </a:xfrm>
          <a:prstGeom prst="rect">
            <a:avLst/>
          </a:prstGeom>
          <a:noFill/>
        </p:spPr>
        <p:txBody>
          <a:bodyPr wrap="square" lIns="0" tIns="0" rIns="0" bIns="0" rtlCol="0">
            <a:spAutoFit/>
          </a:bodyPr>
          <a:lstStyle/>
          <a:p>
            <a:pPr algn="r">
              <a:spcAft>
                <a:spcPts val="300"/>
              </a:spcAft>
            </a:pPr>
            <a:r>
              <a:rPr lang="en-US" sz="700" dirty="0" smtClean="0">
                <a:solidFill>
                  <a:schemeClr val="bg1"/>
                </a:solidFill>
              </a:rPr>
              <a:t>7.40 cm</a:t>
            </a:r>
          </a:p>
          <a:p>
            <a:pPr algn="r">
              <a:spcAft>
                <a:spcPts val="300"/>
              </a:spcAft>
            </a:pPr>
            <a:r>
              <a:rPr lang="en-US" sz="700" dirty="0" smtClean="0">
                <a:solidFill>
                  <a:schemeClr val="bg1"/>
                </a:solidFill>
              </a:rPr>
              <a:t>2.91 Inches</a:t>
            </a:r>
          </a:p>
        </p:txBody>
      </p:sp>
      <p:sp>
        <p:nvSpPr>
          <p:cNvPr id="25" name="TextBox 24"/>
          <p:cNvSpPr txBox="1"/>
          <p:nvPr/>
        </p:nvSpPr>
        <p:spPr>
          <a:xfrm>
            <a:off x="-941463" y="1378583"/>
            <a:ext cx="803286" cy="253916"/>
          </a:xfrm>
          <a:prstGeom prst="rect">
            <a:avLst/>
          </a:prstGeom>
          <a:noFill/>
        </p:spPr>
        <p:txBody>
          <a:bodyPr wrap="square" lIns="0" tIns="0" rIns="0" bIns="0" rtlCol="0">
            <a:spAutoFit/>
          </a:bodyPr>
          <a:lstStyle/>
          <a:p>
            <a:pPr algn="r">
              <a:spcAft>
                <a:spcPts val="300"/>
              </a:spcAft>
            </a:pPr>
            <a:r>
              <a:rPr lang="en-US" sz="700" dirty="0" smtClean="0">
                <a:solidFill>
                  <a:schemeClr val="bg1"/>
                </a:solidFill>
              </a:rPr>
              <a:t>6.00 cm</a:t>
            </a:r>
          </a:p>
          <a:p>
            <a:pPr algn="r">
              <a:spcAft>
                <a:spcPts val="300"/>
              </a:spcAft>
            </a:pPr>
            <a:r>
              <a:rPr lang="en-US" sz="700" dirty="0" smtClean="0">
                <a:solidFill>
                  <a:schemeClr val="bg1"/>
                </a:solidFill>
              </a:rPr>
              <a:t>2.36 Inches</a:t>
            </a:r>
          </a:p>
        </p:txBody>
      </p:sp>
      <p:sp>
        <p:nvSpPr>
          <p:cNvPr id="26" name="TextBox 25"/>
          <p:cNvSpPr txBox="1"/>
          <p:nvPr/>
        </p:nvSpPr>
        <p:spPr>
          <a:xfrm>
            <a:off x="-941463" y="5921847"/>
            <a:ext cx="803286" cy="253916"/>
          </a:xfrm>
          <a:prstGeom prst="rect">
            <a:avLst/>
          </a:prstGeom>
          <a:noFill/>
        </p:spPr>
        <p:txBody>
          <a:bodyPr wrap="square" lIns="0" tIns="0" rIns="0" bIns="0" rtlCol="0" anchor="b" anchorCtr="0">
            <a:spAutoFit/>
          </a:bodyPr>
          <a:lstStyle/>
          <a:p>
            <a:pPr algn="r">
              <a:spcAft>
                <a:spcPts val="300"/>
              </a:spcAft>
            </a:pPr>
            <a:r>
              <a:rPr lang="en-US" sz="700" dirty="0" smtClean="0">
                <a:solidFill>
                  <a:schemeClr val="bg1"/>
                </a:solidFill>
              </a:rPr>
              <a:t>8.00 cm</a:t>
            </a:r>
          </a:p>
          <a:p>
            <a:pPr algn="r">
              <a:spcAft>
                <a:spcPts val="300"/>
              </a:spcAft>
            </a:pPr>
            <a:r>
              <a:rPr lang="en-US" sz="700" dirty="0" smtClean="0">
                <a:solidFill>
                  <a:schemeClr val="bg1"/>
                </a:solidFill>
              </a:rPr>
              <a:t>3.15 Inches</a:t>
            </a:r>
          </a:p>
        </p:txBody>
      </p:sp>
      <p:sp>
        <p:nvSpPr>
          <p:cNvPr id="27" name="TextBox 26"/>
          <p:cNvSpPr txBox="1"/>
          <p:nvPr/>
        </p:nvSpPr>
        <p:spPr>
          <a:xfrm>
            <a:off x="358775" y="7067323"/>
            <a:ext cx="803286" cy="253916"/>
          </a:xfrm>
          <a:prstGeom prst="rect">
            <a:avLst/>
          </a:prstGeom>
          <a:noFill/>
        </p:spPr>
        <p:txBody>
          <a:bodyPr wrap="square" lIns="0" tIns="0" rIns="0" bIns="0" rtlCol="0" anchor="t" anchorCtr="0">
            <a:spAutoFit/>
          </a:bodyPr>
          <a:lstStyle/>
          <a:p>
            <a:pPr>
              <a:spcAft>
                <a:spcPts val="300"/>
              </a:spcAft>
            </a:pPr>
            <a:r>
              <a:rPr lang="en-US" sz="700" dirty="0" smtClean="0">
                <a:solidFill>
                  <a:schemeClr val="bg1"/>
                </a:solidFill>
                <a:sym typeface="Wingdings" pitchFamily="2" charset="2"/>
              </a:rPr>
              <a:t></a:t>
            </a:r>
            <a:r>
              <a:rPr lang="en-US" sz="700" dirty="0" smtClean="0">
                <a:solidFill>
                  <a:schemeClr val="bg1"/>
                </a:solidFill>
              </a:rPr>
              <a:t>11.70 cm</a:t>
            </a:r>
          </a:p>
          <a:p>
            <a:pPr>
              <a:spcAft>
                <a:spcPts val="300"/>
              </a:spcAft>
            </a:pPr>
            <a:r>
              <a:rPr lang="en-US" sz="700" dirty="0" smtClean="0">
                <a:solidFill>
                  <a:schemeClr val="bg1"/>
                </a:solidFill>
                <a:sym typeface="Wingdings" pitchFamily="2" charset="2"/>
              </a:rPr>
              <a:t> 4.61 inches</a:t>
            </a:r>
            <a:endParaRPr lang="en-US" sz="700" dirty="0" smtClean="0">
              <a:solidFill>
                <a:schemeClr val="bg1"/>
              </a:solidFill>
            </a:endParaRPr>
          </a:p>
        </p:txBody>
      </p:sp>
      <p:sp>
        <p:nvSpPr>
          <p:cNvPr id="28" name="TextBox 27"/>
          <p:cNvSpPr txBox="1"/>
          <p:nvPr/>
        </p:nvSpPr>
        <p:spPr>
          <a:xfrm>
            <a:off x="3578310" y="7067323"/>
            <a:ext cx="803286" cy="253916"/>
          </a:xfrm>
          <a:prstGeom prst="rect">
            <a:avLst/>
          </a:prstGeom>
          <a:noFill/>
        </p:spPr>
        <p:txBody>
          <a:bodyPr wrap="square" lIns="0" tIns="0" rIns="0" bIns="0" rtlCol="0" anchor="t" anchorCtr="0">
            <a:spAutoFit/>
          </a:bodyPr>
          <a:lstStyle/>
          <a:p>
            <a:pPr algn="r">
              <a:spcAft>
                <a:spcPts val="300"/>
              </a:spcAft>
            </a:pPr>
            <a:r>
              <a:rPr lang="en-US" sz="700" dirty="0" smtClean="0">
                <a:solidFill>
                  <a:schemeClr val="bg1"/>
                </a:solidFill>
              </a:rPr>
              <a:t>0.50 cm </a:t>
            </a:r>
            <a:r>
              <a:rPr lang="en-US" sz="700" dirty="0" smtClean="0">
                <a:solidFill>
                  <a:schemeClr val="bg1"/>
                </a:solidFill>
                <a:sym typeface="Wingdings" pitchFamily="2" charset="2"/>
              </a:rPr>
              <a:t></a:t>
            </a:r>
          </a:p>
          <a:p>
            <a:pPr algn="r">
              <a:spcAft>
                <a:spcPts val="300"/>
              </a:spcAft>
            </a:pPr>
            <a:r>
              <a:rPr lang="en-US" sz="700" dirty="0" smtClean="0">
                <a:solidFill>
                  <a:schemeClr val="bg1"/>
                </a:solidFill>
                <a:sym typeface="Wingdings" pitchFamily="2" charset="2"/>
              </a:rPr>
              <a:t>0.2 inches </a:t>
            </a:r>
            <a:endParaRPr lang="en-US" sz="700" dirty="0" smtClean="0">
              <a:solidFill>
                <a:schemeClr val="bg1"/>
              </a:solidFill>
            </a:endParaRPr>
          </a:p>
        </p:txBody>
      </p:sp>
      <p:sp>
        <p:nvSpPr>
          <p:cNvPr id="29" name="TextBox 28"/>
          <p:cNvSpPr txBox="1"/>
          <p:nvPr/>
        </p:nvSpPr>
        <p:spPr>
          <a:xfrm>
            <a:off x="4762405" y="7067323"/>
            <a:ext cx="803286" cy="253916"/>
          </a:xfrm>
          <a:prstGeom prst="rect">
            <a:avLst/>
          </a:prstGeom>
          <a:noFill/>
        </p:spPr>
        <p:txBody>
          <a:bodyPr wrap="square" lIns="0" tIns="0" rIns="0" bIns="0" rtlCol="0" anchor="t" anchorCtr="0">
            <a:spAutoFit/>
          </a:bodyPr>
          <a:lstStyle/>
          <a:p>
            <a:pPr>
              <a:spcAft>
                <a:spcPts val="300"/>
              </a:spcAft>
              <a:buFont typeface="Wingdings"/>
              <a:buChar char="ß"/>
            </a:pPr>
            <a:r>
              <a:rPr lang="en-US" sz="700" dirty="0" smtClean="0">
                <a:solidFill>
                  <a:schemeClr val="bg1"/>
                </a:solidFill>
              </a:rPr>
              <a:t>0.50 cm</a:t>
            </a:r>
          </a:p>
          <a:p>
            <a:pPr>
              <a:spcAft>
                <a:spcPts val="300"/>
              </a:spcAft>
            </a:pPr>
            <a:r>
              <a:rPr lang="en-US" sz="700" dirty="0" smtClean="0">
                <a:solidFill>
                  <a:schemeClr val="bg1"/>
                </a:solidFill>
                <a:sym typeface="Wingdings" pitchFamily="2" charset="2"/>
              </a:rPr>
              <a:t> 0.2 inches</a:t>
            </a:r>
            <a:endParaRPr lang="en-US" sz="700" dirty="0" smtClean="0">
              <a:solidFill>
                <a:schemeClr val="bg1"/>
              </a:solidFill>
            </a:endParaRPr>
          </a:p>
        </p:txBody>
      </p:sp>
      <p:sp>
        <p:nvSpPr>
          <p:cNvPr id="30" name="TextBox 29"/>
          <p:cNvSpPr txBox="1"/>
          <p:nvPr/>
        </p:nvSpPr>
        <p:spPr>
          <a:xfrm>
            <a:off x="7970922" y="7067323"/>
            <a:ext cx="803286" cy="253916"/>
          </a:xfrm>
          <a:prstGeom prst="rect">
            <a:avLst/>
          </a:prstGeom>
          <a:noFill/>
        </p:spPr>
        <p:txBody>
          <a:bodyPr wrap="square" lIns="0" tIns="0" rIns="0" bIns="0" rtlCol="0" anchor="t" anchorCtr="0">
            <a:spAutoFit/>
          </a:bodyPr>
          <a:lstStyle/>
          <a:p>
            <a:pPr algn="r">
              <a:spcAft>
                <a:spcPts val="300"/>
              </a:spcAft>
            </a:pPr>
            <a:r>
              <a:rPr lang="en-US" sz="700" dirty="0" smtClean="0">
                <a:solidFill>
                  <a:schemeClr val="bg1"/>
                </a:solidFill>
              </a:rPr>
              <a:t>11.70 cm </a:t>
            </a:r>
            <a:r>
              <a:rPr lang="en-US" sz="700" dirty="0" smtClean="0">
                <a:solidFill>
                  <a:schemeClr val="bg1"/>
                </a:solidFill>
                <a:sym typeface="Wingdings" pitchFamily="2" charset="2"/>
              </a:rPr>
              <a:t></a:t>
            </a:r>
            <a:endParaRPr lang="en-US" sz="700" dirty="0" smtClean="0">
              <a:solidFill>
                <a:schemeClr val="bg1"/>
              </a:solidFill>
            </a:endParaRPr>
          </a:p>
          <a:p>
            <a:pPr algn="r">
              <a:spcAft>
                <a:spcPts val="300"/>
              </a:spcAft>
            </a:pPr>
            <a:r>
              <a:rPr lang="en-US" sz="700" dirty="0" smtClean="0">
                <a:solidFill>
                  <a:schemeClr val="bg1"/>
                </a:solidFill>
                <a:sym typeface="Wingdings" pitchFamily="2" charset="2"/>
              </a:rPr>
              <a:t> 4.61 inches </a:t>
            </a:r>
            <a:endParaRPr lang="en-US" sz="700" dirty="0" smtClean="0">
              <a:solidFill>
                <a:schemeClr val="bg1"/>
              </a:solidFill>
            </a:endParaRPr>
          </a:p>
        </p:txBody>
      </p:sp>
      <p:cxnSp>
        <p:nvCxnSpPr>
          <p:cNvPr id="31" name="Straight Arrow Connector 30"/>
          <p:cNvCxnSpPr/>
          <p:nvPr/>
        </p:nvCxnSpPr>
        <p:spPr>
          <a:xfrm rot="5400000" flipH="1" flipV="1">
            <a:off x="-234095" y="1308642"/>
            <a:ext cx="91440" cy="1588"/>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flipH="1" flipV="1">
            <a:off x="-234094" y="811939"/>
            <a:ext cx="91440" cy="1588"/>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234094" y="6241517"/>
            <a:ext cx="91440" cy="1588"/>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34" name="AutoShape 4"/>
          <p:cNvSpPr>
            <a:spLocks/>
          </p:cNvSpPr>
          <p:nvPr/>
        </p:nvSpPr>
        <p:spPr bwMode="gray">
          <a:xfrm>
            <a:off x="-1541721" y="0"/>
            <a:ext cx="1403543" cy="692497"/>
          </a:xfrm>
          <a:prstGeom prst="rect">
            <a:avLst/>
          </a:prstGeom>
          <a:noFill/>
          <a:ln w="12700" algn="ctr">
            <a:noFill/>
            <a:miter lim="800000"/>
            <a:headEnd/>
            <a:tailEnd/>
          </a:ln>
          <a:effectLst/>
        </p:spPr>
        <p:txBody>
          <a:bodyPr wrap="square" lIns="0" tIns="0" rIns="0" bIns="0" anchor="t" anchorCtr="0">
            <a:spAutoFit/>
          </a:bodyPr>
          <a:lstStyle/>
          <a:p>
            <a:pPr algn="l">
              <a:spcBef>
                <a:spcPts val="0"/>
              </a:spcBef>
            </a:pPr>
            <a:r>
              <a:rPr lang="en-US" sz="700" b="1" dirty="0" smtClean="0">
                <a:solidFill>
                  <a:schemeClr val="bg1"/>
                </a:solidFill>
                <a:cs typeface="Arial" pitchFamily="34" charset="0"/>
              </a:rPr>
              <a:t>To view Deloitte drawing guides:</a:t>
            </a:r>
          </a:p>
          <a:p>
            <a:pPr algn="l">
              <a:spcBef>
                <a:spcPts val="0"/>
              </a:spcBef>
            </a:pPr>
            <a:endParaRPr lang="en-US" sz="300" b="1" dirty="0" smtClean="0">
              <a:solidFill>
                <a:schemeClr val="bg1"/>
              </a:solidFill>
              <a:cs typeface="Arial" pitchFamily="34" charset="0"/>
            </a:endParaRPr>
          </a:p>
          <a:p>
            <a:pPr marL="180975" indent="-180975" algn="l">
              <a:spcBef>
                <a:spcPts val="0"/>
              </a:spcBef>
              <a:buFont typeface="+mj-lt"/>
              <a:buAutoNum type="arabicPeriod"/>
            </a:pPr>
            <a:r>
              <a:rPr lang="en-US" sz="700" b="0" dirty="0" smtClean="0">
                <a:solidFill>
                  <a:schemeClr val="bg1"/>
                </a:solidFill>
                <a:cs typeface="Arial" pitchFamily="34" charset="0"/>
              </a:rPr>
              <a:t>Right-click on slide and select ’Grid and Guides...’</a:t>
            </a:r>
          </a:p>
          <a:p>
            <a:pPr marL="180975" indent="-180975" algn="l">
              <a:spcBef>
                <a:spcPts val="0"/>
              </a:spcBef>
              <a:buFont typeface="+mj-lt"/>
              <a:buAutoNum type="arabicPeriod"/>
            </a:pPr>
            <a:r>
              <a:rPr lang="en-US" sz="700" b="0" dirty="0" smtClean="0">
                <a:solidFill>
                  <a:schemeClr val="bg1"/>
                </a:solidFill>
                <a:cs typeface="Arial" pitchFamily="34" charset="0"/>
              </a:rPr>
              <a:t>Check ’Display drawing guides on screen’</a:t>
            </a:r>
          </a:p>
          <a:p>
            <a:pPr marL="180975" indent="-180975" algn="l">
              <a:spcBef>
                <a:spcPts val="0"/>
              </a:spcBef>
              <a:buFont typeface="+mj-lt"/>
              <a:buAutoNum type="arabicPeriod"/>
            </a:pPr>
            <a:r>
              <a:rPr lang="en-US" sz="700" b="0" dirty="0" smtClean="0">
                <a:solidFill>
                  <a:schemeClr val="bg1"/>
                </a:solidFill>
                <a:cs typeface="Arial" pitchFamily="34" charset="0"/>
              </a:rPr>
              <a:t>Select ’OK’</a:t>
            </a:r>
          </a:p>
        </p:txBody>
      </p:sp>
      <p:sp>
        <p:nvSpPr>
          <p:cNvPr id="36" name="Content Placeholder 2"/>
          <p:cNvSpPr>
            <a:spLocks noGrp="1"/>
          </p:cNvSpPr>
          <p:nvPr>
            <p:ph idx="14"/>
          </p:nvPr>
        </p:nvSpPr>
        <p:spPr>
          <a:xfrm>
            <a:off x="361225" y="1268413"/>
            <a:ext cx="8424000" cy="5040311"/>
          </a:xfrm>
        </p:spPr>
        <p:txBody>
          <a:bodyPr/>
          <a:lstStyle>
            <a:lvl1pPr>
              <a:spcBef>
                <a:spcPts val="1000"/>
              </a:spcBef>
              <a:defRPr/>
            </a:lvl1pPr>
          </a:lstStyle>
          <a:p>
            <a:pPr lvl="0"/>
            <a:r>
              <a:rPr lang="en-US" altLang="ja-JP" noProof="0" smtClean="0"/>
              <a:t>Click to edit Master text styles</a:t>
            </a:r>
          </a:p>
          <a:p>
            <a:pPr lvl="1"/>
            <a:r>
              <a:rPr lang="en-US" altLang="ja-JP" noProof="0" smtClean="0"/>
              <a:t>Second level</a:t>
            </a:r>
          </a:p>
          <a:p>
            <a:pPr lvl="2"/>
            <a:r>
              <a:rPr lang="en-US" altLang="ja-JP" noProof="0" smtClean="0"/>
              <a:t>Third level</a:t>
            </a:r>
          </a:p>
          <a:p>
            <a:pPr lvl="3"/>
            <a:r>
              <a:rPr lang="en-US" altLang="ja-JP" noProof="0" smtClean="0"/>
              <a:t>Fourth level</a:t>
            </a:r>
          </a:p>
          <a:p>
            <a:pPr lvl="4"/>
            <a:r>
              <a:rPr lang="en-US" altLang="ja-JP" noProof="0" smtClean="0"/>
              <a:t>Fifth level</a:t>
            </a:r>
            <a:endParaRPr lang="en-US" noProof="0" dirty="0"/>
          </a:p>
        </p:txBody>
      </p:sp>
      <p:sp>
        <p:nvSpPr>
          <p:cNvPr id="42" name="Footer Placeholder 4"/>
          <p:cNvSpPr>
            <a:spLocks noGrp="1"/>
          </p:cNvSpPr>
          <p:nvPr>
            <p:ph type="ftr" sz="quarter" idx="3"/>
          </p:nvPr>
        </p:nvSpPr>
        <p:spPr>
          <a:xfrm>
            <a:off x="720000" y="6597650"/>
            <a:ext cx="3672613" cy="126000"/>
          </a:xfrm>
          <a:prstGeom prst="rect">
            <a:avLst/>
          </a:prstGeom>
        </p:spPr>
        <p:txBody>
          <a:bodyPr vert="horz" wrap="none" lIns="0" tIns="0" rIns="0" bIns="0" rtlCol="0" anchor="b" anchorCtr="0">
            <a:noAutofit/>
          </a:bodyPr>
          <a:lstStyle>
            <a:lvl1pPr algn="l">
              <a:defRPr sz="1000">
                <a:solidFill>
                  <a:schemeClr val="tx2"/>
                </a:solidFill>
              </a:defRPr>
            </a:lvl1pPr>
          </a:lstStyle>
          <a:p>
            <a:r>
              <a:rPr lang="en-US" smtClean="0"/>
              <a:t>Deloitte</a:t>
            </a:r>
            <a:endParaRPr lang="en-US" dirty="0"/>
          </a:p>
        </p:txBody>
      </p:sp>
      <p:sp>
        <p:nvSpPr>
          <p:cNvPr id="43" name="Slide Number Placeholder 5"/>
          <p:cNvSpPr>
            <a:spLocks noGrp="1"/>
          </p:cNvSpPr>
          <p:nvPr>
            <p:ph type="sldNum" sz="quarter" idx="4"/>
          </p:nvPr>
        </p:nvSpPr>
        <p:spPr>
          <a:xfrm>
            <a:off x="358775" y="6597650"/>
            <a:ext cx="360000" cy="126000"/>
          </a:xfrm>
          <a:prstGeom prst="rect">
            <a:avLst/>
          </a:prstGeom>
        </p:spPr>
        <p:txBody>
          <a:bodyPr vert="horz" lIns="0" tIns="0" rIns="0" bIns="0" rtlCol="0" anchor="b" anchorCtr="0">
            <a:noAutofit/>
          </a:bodyPr>
          <a:lstStyle>
            <a:lvl1pPr algn="l">
              <a:defRPr sz="1000" b="1">
                <a:solidFill>
                  <a:schemeClr val="tx2"/>
                </a:solidFill>
              </a:defRPr>
            </a:lvl1pPr>
          </a:lstStyle>
          <a:p>
            <a:fld id="{313880FF-B11A-4FA9-B5CC-7226C1B8517C}" type="slidenum">
              <a:rPr lang="en-US" smtClean="0"/>
              <a:pPr/>
              <a:t>‹#›</a:t>
            </a:fld>
            <a:endParaRPr lang="en-US" dirty="0"/>
          </a:p>
        </p:txBody>
      </p:sp>
      <p:cxnSp>
        <p:nvCxnSpPr>
          <p:cNvPr id="35" name="Straight Arrow Connector 34"/>
          <p:cNvCxnSpPr/>
          <p:nvPr userDrawn="1"/>
        </p:nvCxnSpPr>
        <p:spPr>
          <a:xfrm>
            <a:off x="-858177" y="6303600"/>
            <a:ext cx="720000" cy="1588"/>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userDrawn="1"/>
        </p:nvCxnSpPr>
        <p:spPr>
          <a:xfrm>
            <a:off x="353590" y="7010598"/>
            <a:ext cx="0" cy="360000"/>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userDrawn="1"/>
        </p:nvCxnSpPr>
        <p:spPr>
          <a:xfrm>
            <a:off x="8776800" y="7010598"/>
            <a:ext cx="0" cy="360000"/>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userDrawn="1"/>
        </p:nvCxnSpPr>
        <p:spPr>
          <a:xfrm>
            <a:off x="-858177" y="1259305"/>
            <a:ext cx="720000" cy="1588"/>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userDrawn="1"/>
        </p:nvCxnSpPr>
        <p:spPr>
          <a:xfrm>
            <a:off x="-858177" y="763468"/>
            <a:ext cx="720000" cy="1588"/>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userDrawn="1"/>
        </p:nvCxnSpPr>
        <p:spPr>
          <a:xfrm>
            <a:off x="4392000" y="7010598"/>
            <a:ext cx="0" cy="360000"/>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userDrawn="1"/>
        </p:nvCxnSpPr>
        <p:spPr>
          <a:xfrm>
            <a:off x="4752000" y="7010598"/>
            <a:ext cx="0" cy="360000"/>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45" name="TextBox 44"/>
          <p:cNvSpPr txBox="1"/>
          <p:nvPr userDrawn="1"/>
        </p:nvSpPr>
        <p:spPr>
          <a:xfrm>
            <a:off x="-1817775" y="6581001"/>
            <a:ext cx="1679598" cy="276999"/>
          </a:xfrm>
          <a:prstGeom prst="rect">
            <a:avLst/>
          </a:prstGeom>
          <a:noFill/>
        </p:spPr>
        <p:txBody>
          <a:bodyPr wrap="square" lIns="0" tIns="0" rIns="0" bIns="0" rtlCol="0">
            <a:spAutoFit/>
          </a:bodyPr>
          <a:lstStyle/>
          <a:p>
            <a:pPr algn="r">
              <a:spcAft>
                <a:spcPts val="300"/>
              </a:spcAft>
            </a:pPr>
            <a:r>
              <a:rPr lang="en-US" sz="900" baseline="0" noProof="0" dirty="0" smtClean="0">
                <a:solidFill>
                  <a:schemeClr val="bg1"/>
                </a:solidFill>
              </a:rPr>
              <a:t>White markers</a:t>
            </a:r>
            <a:r>
              <a:rPr lang="en-US" sz="900" dirty="0" smtClean="0">
                <a:solidFill>
                  <a:schemeClr val="bg1"/>
                </a:solidFill>
              </a:rPr>
              <a:t> indicate position of Deloitte Drawing Guides</a:t>
            </a:r>
            <a:endParaRPr lang="en-US" sz="900" baseline="0" noProof="0" dirty="0" smtClean="0">
              <a:solidFill>
                <a:schemeClr val="bg1"/>
              </a:solidFill>
            </a:endParaRPr>
          </a:p>
        </p:txBody>
      </p:sp>
      <p:sp>
        <p:nvSpPr>
          <p:cNvPr id="46" name="TextBox 45"/>
          <p:cNvSpPr txBox="1"/>
          <p:nvPr userDrawn="1"/>
        </p:nvSpPr>
        <p:spPr>
          <a:xfrm>
            <a:off x="-941463" y="897379"/>
            <a:ext cx="803286" cy="253916"/>
          </a:xfrm>
          <a:prstGeom prst="rect">
            <a:avLst/>
          </a:prstGeom>
          <a:noFill/>
        </p:spPr>
        <p:txBody>
          <a:bodyPr wrap="square" lIns="0" tIns="0" rIns="0" bIns="0" rtlCol="0">
            <a:spAutoFit/>
          </a:bodyPr>
          <a:lstStyle/>
          <a:p>
            <a:pPr algn="r">
              <a:spcAft>
                <a:spcPts val="300"/>
              </a:spcAft>
            </a:pPr>
            <a:r>
              <a:rPr lang="en-US" sz="700" dirty="0" smtClean="0">
                <a:solidFill>
                  <a:schemeClr val="bg1"/>
                </a:solidFill>
              </a:rPr>
              <a:t>7.40 cm</a:t>
            </a:r>
          </a:p>
          <a:p>
            <a:pPr algn="r">
              <a:spcAft>
                <a:spcPts val="300"/>
              </a:spcAft>
            </a:pPr>
            <a:r>
              <a:rPr lang="en-US" sz="700" dirty="0" smtClean="0">
                <a:solidFill>
                  <a:schemeClr val="bg1"/>
                </a:solidFill>
              </a:rPr>
              <a:t>2.91 Inches</a:t>
            </a:r>
          </a:p>
        </p:txBody>
      </p:sp>
      <p:sp>
        <p:nvSpPr>
          <p:cNvPr id="47" name="TextBox 46"/>
          <p:cNvSpPr txBox="1"/>
          <p:nvPr userDrawn="1"/>
        </p:nvSpPr>
        <p:spPr>
          <a:xfrm>
            <a:off x="-941463" y="1378583"/>
            <a:ext cx="803286" cy="253916"/>
          </a:xfrm>
          <a:prstGeom prst="rect">
            <a:avLst/>
          </a:prstGeom>
          <a:noFill/>
        </p:spPr>
        <p:txBody>
          <a:bodyPr wrap="square" lIns="0" tIns="0" rIns="0" bIns="0" rtlCol="0">
            <a:spAutoFit/>
          </a:bodyPr>
          <a:lstStyle/>
          <a:p>
            <a:pPr algn="r">
              <a:spcAft>
                <a:spcPts val="300"/>
              </a:spcAft>
            </a:pPr>
            <a:r>
              <a:rPr lang="en-US" sz="700" dirty="0" smtClean="0">
                <a:solidFill>
                  <a:schemeClr val="bg1"/>
                </a:solidFill>
              </a:rPr>
              <a:t>6.00 cm</a:t>
            </a:r>
          </a:p>
          <a:p>
            <a:pPr algn="r">
              <a:spcAft>
                <a:spcPts val="300"/>
              </a:spcAft>
            </a:pPr>
            <a:r>
              <a:rPr lang="en-US" sz="700" dirty="0" smtClean="0">
                <a:solidFill>
                  <a:schemeClr val="bg1"/>
                </a:solidFill>
              </a:rPr>
              <a:t>2.36 Inches</a:t>
            </a:r>
          </a:p>
        </p:txBody>
      </p:sp>
      <p:sp>
        <p:nvSpPr>
          <p:cNvPr id="48" name="TextBox 47"/>
          <p:cNvSpPr txBox="1"/>
          <p:nvPr userDrawn="1"/>
        </p:nvSpPr>
        <p:spPr>
          <a:xfrm>
            <a:off x="-941463" y="5921847"/>
            <a:ext cx="803286" cy="253916"/>
          </a:xfrm>
          <a:prstGeom prst="rect">
            <a:avLst/>
          </a:prstGeom>
          <a:noFill/>
        </p:spPr>
        <p:txBody>
          <a:bodyPr wrap="square" lIns="0" tIns="0" rIns="0" bIns="0" rtlCol="0" anchor="b" anchorCtr="0">
            <a:spAutoFit/>
          </a:bodyPr>
          <a:lstStyle/>
          <a:p>
            <a:pPr algn="r">
              <a:spcAft>
                <a:spcPts val="300"/>
              </a:spcAft>
            </a:pPr>
            <a:r>
              <a:rPr lang="en-US" sz="700" dirty="0" smtClean="0">
                <a:solidFill>
                  <a:schemeClr val="bg1"/>
                </a:solidFill>
              </a:rPr>
              <a:t>8.00 cm</a:t>
            </a:r>
          </a:p>
          <a:p>
            <a:pPr algn="r">
              <a:spcAft>
                <a:spcPts val="300"/>
              </a:spcAft>
            </a:pPr>
            <a:r>
              <a:rPr lang="en-US" sz="700" dirty="0" smtClean="0">
                <a:solidFill>
                  <a:schemeClr val="bg1"/>
                </a:solidFill>
              </a:rPr>
              <a:t>3.15 Inches</a:t>
            </a:r>
          </a:p>
        </p:txBody>
      </p:sp>
      <p:sp>
        <p:nvSpPr>
          <p:cNvPr id="49" name="TextBox 48"/>
          <p:cNvSpPr txBox="1"/>
          <p:nvPr userDrawn="1"/>
        </p:nvSpPr>
        <p:spPr>
          <a:xfrm>
            <a:off x="358775" y="7067323"/>
            <a:ext cx="803286" cy="253916"/>
          </a:xfrm>
          <a:prstGeom prst="rect">
            <a:avLst/>
          </a:prstGeom>
          <a:noFill/>
        </p:spPr>
        <p:txBody>
          <a:bodyPr wrap="square" lIns="0" tIns="0" rIns="0" bIns="0" rtlCol="0" anchor="t" anchorCtr="0">
            <a:spAutoFit/>
          </a:bodyPr>
          <a:lstStyle/>
          <a:p>
            <a:pPr>
              <a:spcAft>
                <a:spcPts val="300"/>
              </a:spcAft>
            </a:pPr>
            <a:r>
              <a:rPr lang="en-US" sz="700" dirty="0" smtClean="0">
                <a:solidFill>
                  <a:schemeClr val="bg1"/>
                </a:solidFill>
                <a:sym typeface="Wingdings" pitchFamily="2" charset="2"/>
              </a:rPr>
              <a:t></a:t>
            </a:r>
            <a:r>
              <a:rPr lang="en-US" sz="700" dirty="0" smtClean="0">
                <a:solidFill>
                  <a:schemeClr val="bg1"/>
                </a:solidFill>
              </a:rPr>
              <a:t>11.70 cm</a:t>
            </a:r>
          </a:p>
          <a:p>
            <a:pPr>
              <a:spcAft>
                <a:spcPts val="300"/>
              </a:spcAft>
            </a:pPr>
            <a:r>
              <a:rPr lang="en-US" sz="700" dirty="0" smtClean="0">
                <a:solidFill>
                  <a:schemeClr val="bg1"/>
                </a:solidFill>
                <a:sym typeface="Wingdings" pitchFamily="2" charset="2"/>
              </a:rPr>
              <a:t> 4.61 inches</a:t>
            </a:r>
            <a:endParaRPr lang="en-US" sz="700" dirty="0" smtClean="0">
              <a:solidFill>
                <a:schemeClr val="bg1"/>
              </a:solidFill>
            </a:endParaRPr>
          </a:p>
        </p:txBody>
      </p:sp>
      <p:sp>
        <p:nvSpPr>
          <p:cNvPr id="50" name="TextBox 49"/>
          <p:cNvSpPr txBox="1"/>
          <p:nvPr userDrawn="1"/>
        </p:nvSpPr>
        <p:spPr>
          <a:xfrm>
            <a:off x="3578310" y="7067323"/>
            <a:ext cx="803286" cy="253916"/>
          </a:xfrm>
          <a:prstGeom prst="rect">
            <a:avLst/>
          </a:prstGeom>
          <a:noFill/>
        </p:spPr>
        <p:txBody>
          <a:bodyPr wrap="square" lIns="0" tIns="0" rIns="0" bIns="0" rtlCol="0" anchor="t" anchorCtr="0">
            <a:spAutoFit/>
          </a:bodyPr>
          <a:lstStyle/>
          <a:p>
            <a:pPr algn="r">
              <a:spcAft>
                <a:spcPts val="300"/>
              </a:spcAft>
            </a:pPr>
            <a:r>
              <a:rPr lang="en-US" sz="700" dirty="0" smtClean="0">
                <a:solidFill>
                  <a:schemeClr val="bg1"/>
                </a:solidFill>
              </a:rPr>
              <a:t>0.50 cm </a:t>
            </a:r>
            <a:r>
              <a:rPr lang="en-US" sz="700" dirty="0" smtClean="0">
                <a:solidFill>
                  <a:schemeClr val="bg1"/>
                </a:solidFill>
                <a:sym typeface="Wingdings" pitchFamily="2" charset="2"/>
              </a:rPr>
              <a:t></a:t>
            </a:r>
          </a:p>
          <a:p>
            <a:pPr algn="r">
              <a:spcAft>
                <a:spcPts val="300"/>
              </a:spcAft>
            </a:pPr>
            <a:r>
              <a:rPr lang="en-US" sz="700" dirty="0" smtClean="0">
                <a:solidFill>
                  <a:schemeClr val="bg1"/>
                </a:solidFill>
                <a:sym typeface="Wingdings" pitchFamily="2" charset="2"/>
              </a:rPr>
              <a:t>0.2 inches </a:t>
            </a:r>
            <a:endParaRPr lang="en-US" sz="700" dirty="0" smtClean="0">
              <a:solidFill>
                <a:schemeClr val="bg1"/>
              </a:solidFill>
            </a:endParaRPr>
          </a:p>
        </p:txBody>
      </p:sp>
      <p:sp>
        <p:nvSpPr>
          <p:cNvPr id="51" name="TextBox 50"/>
          <p:cNvSpPr txBox="1"/>
          <p:nvPr userDrawn="1"/>
        </p:nvSpPr>
        <p:spPr>
          <a:xfrm>
            <a:off x="4762405" y="7067323"/>
            <a:ext cx="803286" cy="253916"/>
          </a:xfrm>
          <a:prstGeom prst="rect">
            <a:avLst/>
          </a:prstGeom>
          <a:noFill/>
        </p:spPr>
        <p:txBody>
          <a:bodyPr wrap="square" lIns="0" tIns="0" rIns="0" bIns="0" rtlCol="0" anchor="t" anchorCtr="0">
            <a:spAutoFit/>
          </a:bodyPr>
          <a:lstStyle/>
          <a:p>
            <a:pPr>
              <a:spcAft>
                <a:spcPts val="300"/>
              </a:spcAft>
              <a:buFont typeface="Wingdings"/>
              <a:buChar char="ß"/>
            </a:pPr>
            <a:r>
              <a:rPr lang="en-US" sz="700" dirty="0" smtClean="0">
                <a:solidFill>
                  <a:schemeClr val="bg1"/>
                </a:solidFill>
              </a:rPr>
              <a:t>0.50 cm</a:t>
            </a:r>
          </a:p>
          <a:p>
            <a:pPr>
              <a:spcAft>
                <a:spcPts val="300"/>
              </a:spcAft>
            </a:pPr>
            <a:r>
              <a:rPr lang="en-US" sz="700" dirty="0" smtClean="0">
                <a:solidFill>
                  <a:schemeClr val="bg1"/>
                </a:solidFill>
                <a:sym typeface="Wingdings" pitchFamily="2" charset="2"/>
              </a:rPr>
              <a:t> 0.2 inches</a:t>
            </a:r>
            <a:endParaRPr lang="en-US" sz="700" dirty="0" smtClean="0">
              <a:solidFill>
                <a:schemeClr val="bg1"/>
              </a:solidFill>
            </a:endParaRPr>
          </a:p>
        </p:txBody>
      </p:sp>
      <p:sp>
        <p:nvSpPr>
          <p:cNvPr id="52" name="TextBox 51"/>
          <p:cNvSpPr txBox="1"/>
          <p:nvPr userDrawn="1"/>
        </p:nvSpPr>
        <p:spPr>
          <a:xfrm>
            <a:off x="7970922" y="7067323"/>
            <a:ext cx="803286" cy="253916"/>
          </a:xfrm>
          <a:prstGeom prst="rect">
            <a:avLst/>
          </a:prstGeom>
          <a:noFill/>
        </p:spPr>
        <p:txBody>
          <a:bodyPr wrap="square" lIns="0" tIns="0" rIns="0" bIns="0" rtlCol="0" anchor="t" anchorCtr="0">
            <a:spAutoFit/>
          </a:bodyPr>
          <a:lstStyle/>
          <a:p>
            <a:pPr algn="r">
              <a:spcAft>
                <a:spcPts val="300"/>
              </a:spcAft>
            </a:pPr>
            <a:r>
              <a:rPr lang="en-US" sz="700" dirty="0" smtClean="0">
                <a:solidFill>
                  <a:schemeClr val="bg1"/>
                </a:solidFill>
              </a:rPr>
              <a:t>11.70 cm </a:t>
            </a:r>
            <a:r>
              <a:rPr lang="en-US" sz="700" dirty="0" smtClean="0">
                <a:solidFill>
                  <a:schemeClr val="bg1"/>
                </a:solidFill>
                <a:sym typeface="Wingdings" pitchFamily="2" charset="2"/>
              </a:rPr>
              <a:t></a:t>
            </a:r>
            <a:endParaRPr lang="en-US" sz="700" dirty="0" smtClean="0">
              <a:solidFill>
                <a:schemeClr val="bg1"/>
              </a:solidFill>
            </a:endParaRPr>
          </a:p>
          <a:p>
            <a:pPr algn="r">
              <a:spcAft>
                <a:spcPts val="300"/>
              </a:spcAft>
            </a:pPr>
            <a:r>
              <a:rPr lang="en-US" sz="700" dirty="0" smtClean="0">
                <a:solidFill>
                  <a:schemeClr val="bg1"/>
                </a:solidFill>
                <a:sym typeface="Wingdings" pitchFamily="2" charset="2"/>
              </a:rPr>
              <a:t> 4.61 inches </a:t>
            </a:r>
            <a:endParaRPr lang="en-US" sz="700" dirty="0" smtClean="0">
              <a:solidFill>
                <a:schemeClr val="bg1"/>
              </a:solidFill>
            </a:endParaRPr>
          </a:p>
        </p:txBody>
      </p:sp>
      <p:cxnSp>
        <p:nvCxnSpPr>
          <p:cNvPr id="53" name="Straight Arrow Connector 52"/>
          <p:cNvCxnSpPr/>
          <p:nvPr userDrawn="1"/>
        </p:nvCxnSpPr>
        <p:spPr>
          <a:xfrm rot="5400000" flipH="1" flipV="1">
            <a:off x="-234095" y="1308642"/>
            <a:ext cx="91440" cy="1588"/>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userDrawn="1"/>
        </p:nvCxnSpPr>
        <p:spPr>
          <a:xfrm rot="5400000" flipH="1" flipV="1">
            <a:off x="-234094" y="811939"/>
            <a:ext cx="91440" cy="1588"/>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userDrawn="1"/>
        </p:nvCxnSpPr>
        <p:spPr>
          <a:xfrm rot="5400000" flipH="1" flipV="1">
            <a:off x="-234094" y="6241517"/>
            <a:ext cx="91440" cy="1588"/>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56" name="AutoShape 4"/>
          <p:cNvSpPr>
            <a:spLocks/>
          </p:cNvSpPr>
          <p:nvPr userDrawn="1"/>
        </p:nvSpPr>
        <p:spPr bwMode="gray">
          <a:xfrm>
            <a:off x="-1541721" y="0"/>
            <a:ext cx="1403543" cy="692497"/>
          </a:xfrm>
          <a:prstGeom prst="rect">
            <a:avLst/>
          </a:prstGeom>
          <a:noFill/>
          <a:ln w="12700" algn="ctr">
            <a:noFill/>
            <a:miter lim="800000"/>
            <a:headEnd/>
            <a:tailEnd/>
          </a:ln>
          <a:effectLst/>
        </p:spPr>
        <p:txBody>
          <a:bodyPr wrap="square" lIns="0" tIns="0" rIns="0" bIns="0" anchor="t" anchorCtr="0">
            <a:spAutoFit/>
          </a:bodyPr>
          <a:lstStyle/>
          <a:p>
            <a:pPr algn="l">
              <a:spcBef>
                <a:spcPts val="0"/>
              </a:spcBef>
            </a:pPr>
            <a:r>
              <a:rPr lang="en-US" sz="700" b="1" dirty="0" smtClean="0">
                <a:solidFill>
                  <a:schemeClr val="bg1"/>
                </a:solidFill>
                <a:cs typeface="Arial" pitchFamily="34" charset="0"/>
              </a:rPr>
              <a:t>To view Deloitte drawing guides:</a:t>
            </a:r>
          </a:p>
          <a:p>
            <a:pPr algn="l">
              <a:spcBef>
                <a:spcPts val="0"/>
              </a:spcBef>
            </a:pPr>
            <a:endParaRPr lang="en-US" sz="300" b="1" dirty="0" smtClean="0">
              <a:solidFill>
                <a:schemeClr val="bg1"/>
              </a:solidFill>
              <a:cs typeface="Arial" pitchFamily="34" charset="0"/>
            </a:endParaRPr>
          </a:p>
          <a:p>
            <a:pPr marL="180975" indent="-180975" algn="l">
              <a:spcBef>
                <a:spcPts val="0"/>
              </a:spcBef>
              <a:buFont typeface="+mj-lt"/>
              <a:buAutoNum type="arabicPeriod"/>
            </a:pPr>
            <a:r>
              <a:rPr lang="en-US" sz="700" b="0" dirty="0" smtClean="0">
                <a:solidFill>
                  <a:schemeClr val="bg1"/>
                </a:solidFill>
                <a:cs typeface="Arial" pitchFamily="34" charset="0"/>
              </a:rPr>
              <a:t>Right-click on slide and select ’Grid and Guides...’</a:t>
            </a:r>
          </a:p>
          <a:p>
            <a:pPr marL="180975" indent="-180975" algn="l">
              <a:spcBef>
                <a:spcPts val="0"/>
              </a:spcBef>
              <a:buFont typeface="+mj-lt"/>
              <a:buAutoNum type="arabicPeriod"/>
            </a:pPr>
            <a:r>
              <a:rPr lang="en-US" sz="700" b="0" dirty="0" smtClean="0">
                <a:solidFill>
                  <a:schemeClr val="bg1"/>
                </a:solidFill>
                <a:cs typeface="Arial" pitchFamily="34" charset="0"/>
              </a:rPr>
              <a:t>Check ’Display drawing guides on screen’</a:t>
            </a:r>
          </a:p>
          <a:p>
            <a:pPr marL="180975" indent="-180975" algn="l">
              <a:spcBef>
                <a:spcPts val="0"/>
              </a:spcBef>
              <a:buFont typeface="+mj-lt"/>
              <a:buAutoNum type="arabicPeriod"/>
            </a:pPr>
            <a:r>
              <a:rPr lang="en-US" sz="700" b="0" dirty="0" smtClean="0">
                <a:solidFill>
                  <a:schemeClr val="bg1"/>
                </a:solidFill>
                <a:cs typeface="Arial" pitchFamily="34" charset="0"/>
              </a:rPr>
              <a:t>Select ’OK’</a:t>
            </a:r>
          </a:p>
        </p:txBody>
      </p:sp>
    </p:spTree>
    <p:extLst>
      <p:ext uri="{BB962C8B-B14F-4D97-AF65-F5344CB8AC3E}">
        <p14:creationId xmlns:p14="http://schemas.microsoft.com/office/powerpoint/2010/main" val="144102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fld id="{91637B1C-12C9-4909-BBAD-9704357418D7}" type="datetimeFigureOut">
              <a:rPr lang="en-US" smtClean="0"/>
              <a:t>6/26/2012</a:t>
            </a:fld>
            <a:endParaRPr lang="en-US"/>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endParaRPr lang="en-US"/>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2451C371-ACF1-4B73-BE73-E7C62DA182A5}" type="slidenum">
              <a:rPr lang="en-US" smtClean="0"/>
              <a:t>‹#›</a:t>
            </a:fld>
            <a:endParaRPr lang="en-US"/>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gif"/><Relationship Id="rId1" Type="http://schemas.openxmlformats.org/officeDocument/2006/relationships/slideLayout" Target="../slideLayouts/slideLayout1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1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2.xml"/><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image" Target="../media/image23.gif"/><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0"/>
            <a:ext cx="7543800" cy="2438400"/>
          </a:xfrm>
        </p:spPr>
        <p:txBody>
          <a:bodyPr/>
          <a:lstStyle/>
          <a:p>
            <a:pPr algn="ctr"/>
            <a:r>
              <a:rPr lang="mn-MN" sz="5500" dirty="0" smtClean="0"/>
              <a:t>Америк дахь Монгол Оюутны Холбоо</a:t>
            </a:r>
            <a:endParaRPr lang="en-US" sz="5500" dirty="0"/>
          </a:p>
        </p:txBody>
      </p:sp>
      <p:sp>
        <p:nvSpPr>
          <p:cNvPr id="3" name="Subtitle 2"/>
          <p:cNvSpPr>
            <a:spLocks noGrp="1"/>
          </p:cNvSpPr>
          <p:nvPr>
            <p:ph type="subTitle" idx="1"/>
          </p:nvPr>
        </p:nvSpPr>
        <p:spPr>
          <a:xfrm>
            <a:off x="762000" y="4876800"/>
            <a:ext cx="6858000" cy="990600"/>
          </a:xfrm>
        </p:spPr>
        <p:txBody>
          <a:bodyPr/>
          <a:lstStyle/>
          <a:p>
            <a:r>
              <a:rPr lang="mn-MN" dirty="0" smtClean="0"/>
              <a:t>Сүхбат </a:t>
            </a:r>
            <a:r>
              <a:rPr lang="en-US" dirty="0" smtClean="0"/>
              <a:t>(Wesleyan University)</a:t>
            </a:r>
            <a:endParaRPr lang="en-US" dirty="0"/>
          </a:p>
        </p:txBody>
      </p:sp>
      <p:pic>
        <p:nvPicPr>
          <p:cNvPr id="4" name="Picture 2" descr="D:\Documents\AMSA\New Logo.jpg"/>
          <p:cNvPicPr>
            <a:picLocks noChangeAspect="1" noChangeArrowheads="1"/>
          </p:cNvPicPr>
          <p:nvPr/>
        </p:nvPicPr>
        <p:blipFill>
          <a:blip r:embed="rId2"/>
          <a:srcRect/>
          <a:stretch>
            <a:fillRect/>
          </a:stretch>
        </p:blipFill>
        <p:spPr bwMode="auto">
          <a:xfrm>
            <a:off x="3352800" y="228600"/>
            <a:ext cx="2222145" cy="2209800"/>
          </a:xfrm>
          <a:prstGeom prst="rect">
            <a:avLst/>
          </a:prstGeom>
          <a:noFill/>
        </p:spPr>
      </p:pic>
    </p:spTree>
    <p:extLst>
      <p:ext uri="{BB962C8B-B14F-4D97-AF65-F5344CB8AC3E}">
        <p14:creationId xmlns:p14="http://schemas.microsoft.com/office/powerpoint/2010/main" val="39823965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b="1" dirty="0" smtClean="0">
                <a:latin typeface="+mn-lt"/>
              </a:rPr>
              <a:t>70 гаруй гишүүдтэй</a:t>
            </a:r>
            <a:endParaRPr lang="en-US" b="1" dirty="0">
              <a:latin typeface="+mn-lt"/>
            </a:endParaRPr>
          </a:p>
        </p:txBody>
      </p:sp>
      <p:sp>
        <p:nvSpPr>
          <p:cNvPr id="3" name="Content Placeholder 2"/>
          <p:cNvSpPr>
            <a:spLocks noGrp="1"/>
          </p:cNvSpPr>
          <p:nvPr>
            <p:ph idx="1"/>
          </p:nvPr>
        </p:nvSpPr>
        <p:spPr/>
        <p:txBody>
          <a:bodyPr/>
          <a:lstStyle/>
          <a:p>
            <a:pPr marL="0" indent="0">
              <a:buNone/>
            </a:pPr>
            <a:r>
              <a:rPr lang="mn-MN" b="1" u="sng" dirty="0" smtClean="0"/>
              <a:t>Зорилго:</a:t>
            </a:r>
            <a:r>
              <a:rPr lang="mn-MN" dirty="0" smtClean="0"/>
              <a:t> Дэлхий </a:t>
            </a:r>
            <a:r>
              <a:rPr lang="mn-MN" dirty="0"/>
              <a:t>дахин дахь Монголын шилдэг оюутан, төгсөгчидийг хамарсан сүлжээ, тэдгээрийн мэдээллийн санг бий болгож, Монгол улсад болон олон улсад боловсрол, эдийн засаг, улс төрийн болон сайн санааны үйлс зохион байгуулж оролцох явдал юм</a:t>
            </a:r>
            <a:r>
              <a:rPr lang="mn-MN" dirty="0" smtClean="0"/>
              <a:t>.</a:t>
            </a:r>
            <a:endParaRPr lang="en-US" dirty="0"/>
          </a:p>
          <a:p>
            <a:endParaRPr lang="en-US" dirty="0"/>
          </a:p>
        </p:txBody>
      </p:sp>
    </p:spTree>
    <p:extLst>
      <p:ext uri="{BB962C8B-B14F-4D97-AF65-F5344CB8AC3E}">
        <p14:creationId xmlns:p14="http://schemas.microsoft.com/office/powerpoint/2010/main" val="33008945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0"/>
            <a:ext cx="7543800" cy="2438400"/>
          </a:xfrm>
        </p:spPr>
        <p:txBody>
          <a:bodyPr/>
          <a:lstStyle/>
          <a:p>
            <a:pPr algn="ctr"/>
            <a:r>
              <a:rPr lang="mn-MN" sz="5500" dirty="0" smtClean="0"/>
              <a:t>Яагаад заавал Америкт суралцах ёстой гэж ?</a:t>
            </a:r>
            <a:endParaRPr lang="en-US" sz="5500" dirty="0"/>
          </a:p>
        </p:txBody>
      </p:sp>
      <p:sp>
        <p:nvSpPr>
          <p:cNvPr id="3" name="Subtitle 2"/>
          <p:cNvSpPr>
            <a:spLocks noGrp="1"/>
          </p:cNvSpPr>
          <p:nvPr>
            <p:ph type="subTitle" idx="1"/>
          </p:nvPr>
        </p:nvSpPr>
        <p:spPr>
          <a:xfrm>
            <a:off x="762000" y="4876800"/>
            <a:ext cx="6858000" cy="1219200"/>
          </a:xfrm>
        </p:spPr>
        <p:txBody>
          <a:bodyPr>
            <a:normAutofit fontScale="85000" lnSpcReduction="20000"/>
          </a:bodyPr>
          <a:lstStyle/>
          <a:p>
            <a:r>
              <a:rPr lang="mn-MN" dirty="0" smtClean="0"/>
              <a:t>Сүхбат </a:t>
            </a:r>
            <a:r>
              <a:rPr lang="en-US" dirty="0" smtClean="0"/>
              <a:t>(Wesleyan University)</a:t>
            </a:r>
            <a:endParaRPr lang="mn-MN" dirty="0" smtClean="0"/>
          </a:p>
          <a:p>
            <a:r>
              <a:rPr lang="mn-MN" dirty="0" smtClean="0"/>
              <a:t>Цэнгүүн </a:t>
            </a:r>
            <a:r>
              <a:rPr lang="en-US" dirty="0" smtClean="0"/>
              <a:t>(Cornell University)</a:t>
            </a:r>
          </a:p>
          <a:p>
            <a:r>
              <a:rPr lang="mn-MN" dirty="0" smtClean="0"/>
              <a:t>Тулгаа </a:t>
            </a:r>
            <a:r>
              <a:rPr lang="en-US" dirty="0" smtClean="0"/>
              <a:t>(Brown University)</a:t>
            </a:r>
            <a:endParaRPr lang="en-US" dirty="0"/>
          </a:p>
        </p:txBody>
      </p:sp>
      <p:pic>
        <p:nvPicPr>
          <p:cNvPr id="1026" name="Picture 2" descr="C:\Users\user\Desktop\images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0718" y="294154"/>
            <a:ext cx="25146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1177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b="1" dirty="0" smtClean="0">
                <a:latin typeface="+mn-lt"/>
              </a:rPr>
              <a:t>Яагаад ?</a:t>
            </a:r>
            <a:endParaRPr lang="en-US" b="1" dirty="0">
              <a:latin typeface="+mn-lt"/>
            </a:endParaRPr>
          </a:p>
        </p:txBody>
      </p:sp>
      <p:sp>
        <p:nvSpPr>
          <p:cNvPr id="3" name="Content Placeholder 2"/>
          <p:cNvSpPr>
            <a:spLocks noGrp="1"/>
          </p:cNvSpPr>
          <p:nvPr>
            <p:ph idx="1"/>
          </p:nvPr>
        </p:nvSpPr>
        <p:spPr/>
        <p:txBody>
          <a:bodyPr/>
          <a:lstStyle/>
          <a:p>
            <a:r>
              <a:rPr lang="mn-MN" dirty="0" smtClean="0"/>
              <a:t>...?</a:t>
            </a:r>
          </a:p>
          <a:p>
            <a:r>
              <a:rPr lang="mn-MN" dirty="0" smtClean="0"/>
              <a:t>...?</a:t>
            </a:r>
          </a:p>
          <a:p>
            <a:r>
              <a:rPr lang="mn-MN" dirty="0" smtClean="0"/>
              <a:t>...?</a:t>
            </a:r>
          </a:p>
          <a:p>
            <a:r>
              <a:rPr lang="mn-MN" dirty="0" smtClean="0"/>
              <a:t>...?</a:t>
            </a:r>
          </a:p>
          <a:p>
            <a:r>
              <a:rPr lang="mn-MN" dirty="0" smtClean="0"/>
              <a:t>...?</a:t>
            </a:r>
          </a:p>
          <a:p>
            <a:r>
              <a:rPr lang="mn-MN" dirty="0" smtClean="0"/>
              <a:t>...?</a:t>
            </a:r>
            <a:endParaRPr lang="en-US" dirty="0"/>
          </a:p>
        </p:txBody>
      </p:sp>
    </p:spTree>
    <p:extLst>
      <p:ext uri="{BB962C8B-B14F-4D97-AF65-F5344CB8AC3E}">
        <p14:creationId xmlns:p14="http://schemas.microsoft.com/office/powerpoint/2010/main" val="24798724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b="1" dirty="0" smtClean="0">
                <a:latin typeface="+mn-lt"/>
              </a:rPr>
              <a:t>Миний бодлоор</a:t>
            </a:r>
            <a:endParaRPr lang="en-US" b="1" dirty="0">
              <a:latin typeface="+mn-lt"/>
            </a:endParaRPr>
          </a:p>
        </p:txBody>
      </p:sp>
      <p:sp>
        <p:nvSpPr>
          <p:cNvPr id="3" name="Content Placeholder 2"/>
          <p:cNvSpPr>
            <a:spLocks noGrp="1"/>
          </p:cNvSpPr>
          <p:nvPr>
            <p:ph idx="1"/>
          </p:nvPr>
        </p:nvSpPr>
        <p:spPr/>
        <p:txBody>
          <a:bodyPr/>
          <a:lstStyle/>
          <a:p>
            <a:r>
              <a:rPr lang="mn-MN" dirty="0" smtClean="0"/>
              <a:t>Төгсөөд хаачих вэ ?</a:t>
            </a:r>
          </a:p>
          <a:p>
            <a:endParaRPr lang="mn-MN" dirty="0"/>
          </a:p>
          <a:p>
            <a:r>
              <a:rPr lang="mn-MN" dirty="0" smtClean="0"/>
              <a:t>Юу сурч байна вэ ?</a:t>
            </a:r>
          </a:p>
          <a:p>
            <a:endParaRPr lang="mn-MN" dirty="0"/>
          </a:p>
          <a:p>
            <a:r>
              <a:rPr lang="mn-MN" dirty="0" smtClean="0"/>
              <a:t>Цаашид юу сурах вэ ?</a:t>
            </a:r>
            <a:endParaRPr lang="en-US" dirty="0"/>
          </a:p>
        </p:txBody>
      </p:sp>
    </p:spTree>
    <p:extLst>
      <p:ext uri="{BB962C8B-B14F-4D97-AF65-F5344CB8AC3E}">
        <p14:creationId xmlns:p14="http://schemas.microsoft.com/office/powerpoint/2010/main" val="30353982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b="1" dirty="0" smtClean="0">
                <a:latin typeface="+mn-lt"/>
              </a:rPr>
              <a:t>Хүсэл зорилго...</a:t>
            </a:r>
            <a:endParaRPr lang="en-US" b="1" dirty="0">
              <a:latin typeface="+mn-lt"/>
            </a:endParaRPr>
          </a:p>
        </p:txBody>
      </p:sp>
      <p:sp>
        <p:nvSpPr>
          <p:cNvPr id="3" name="Content Placeholder 2"/>
          <p:cNvSpPr>
            <a:spLocks noGrp="1"/>
          </p:cNvSpPr>
          <p:nvPr>
            <p:ph idx="1"/>
          </p:nvPr>
        </p:nvSpPr>
        <p:spPr/>
        <p:txBody>
          <a:bodyPr/>
          <a:lstStyle/>
          <a:p>
            <a:r>
              <a:rPr lang="mn-MN" dirty="0" smtClean="0"/>
              <a:t>Бидэнд шаардлага тулгарч байна </a:t>
            </a:r>
            <a:r>
              <a:rPr lang="en-US" dirty="0" smtClean="0"/>
              <a:t>(</a:t>
            </a:r>
            <a:r>
              <a:rPr lang="mn-MN" dirty="0" smtClean="0"/>
              <a:t>хурдацтай хөгжих</a:t>
            </a:r>
            <a:r>
              <a:rPr lang="en-US" dirty="0" smtClean="0"/>
              <a:t>)</a:t>
            </a:r>
            <a:endParaRPr lang="mn-MN" dirty="0" smtClean="0"/>
          </a:p>
          <a:p>
            <a:endParaRPr lang="mn-MN" dirty="0"/>
          </a:p>
          <a:p>
            <a:r>
              <a:rPr lang="mn-MN" dirty="0" smtClean="0"/>
              <a:t>Суралцах орчин </a:t>
            </a:r>
            <a:r>
              <a:rPr lang="en-US" dirty="0" smtClean="0"/>
              <a:t>(</a:t>
            </a:r>
            <a:r>
              <a:rPr lang="mn-MN" dirty="0" smtClean="0"/>
              <a:t>номын сан, мэдээ материал</a:t>
            </a:r>
            <a:r>
              <a:rPr lang="en-US" dirty="0" smtClean="0"/>
              <a:t>)</a:t>
            </a:r>
            <a:endParaRPr lang="mn-MN" dirty="0" smtClean="0"/>
          </a:p>
          <a:p>
            <a:endParaRPr lang="mn-MN" dirty="0" smtClean="0"/>
          </a:p>
          <a:p>
            <a:r>
              <a:rPr lang="mn-MN" dirty="0" smtClean="0"/>
              <a:t>Хөгжих боломж </a:t>
            </a:r>
            <a:r>
              <a:rPr lang="en-US" dirty="0" smtClean="0"/>
              <a:t>(</a:t>
            </a:r>
            <a:r>
              <a:rPr lang="mn-MN" dirty="0" smtClean="0"/>
              <a:t>бусадтай хамт, дадлага ажил</a:t>
            </a:r>
            <a:r>
              <a:rPr lang="en-US" dirty="0" smtClean="0"/>
              <a:t>)</a:t>
            </a:r>
            <a:endParaRPr lang="mn-MN" dirty="0" smtClean="0"/>
          </a:p>
          <a:p>
            <a:endParaRPr lang="mn-MN" dirty="0" smtClean="0"/>
          </a:p>
          <a:p>
            <a:r>
              <a:rPr lang="mn-MN" dirty="0" smtClean="0"/>
              <a:t>Бидний давуу талууд</a:t>
            </a:r>
          </a:p>
          <a:p>
            <a:endParaRPr lang="en-US" dirty="0"/>
          </a:p>
        </p:txBody>
      </p:sp>
    </p:spTree>
    <p:extLst>
      <p:ext uri="{BB962C8B-B14F-4D97-AF65-F5344CB8AC3E}">
        <p14:creationId xmlns:p14="http://schemas.microsoft.com/office/powerpoint/2010/main" val="9718318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b="1" dirty="0" smtClean="0">
                <a:latin typeface="+mn-lt"/>
              </a:rPr>
              <a:t>Шаардлагууд</a:t>
            </a:r>
            <a:endParaRPr lang="en-US" b="1" dirty="0">
              <a:latin typeface="+mn-lt"/>
            </a:endParaRPr>
          </a:p>
        </p:txBody>
      </p:sp>
      <p:sp>
        <p:nvSpPr>
          <p:cNvPr id="3" name="Content Placeholder 2"/>
          <p:cNvSpPr>
            <a:spLocks noGrp="1"/>
          </p:cNvSpPr>
          <p:nvPr>
            <p:ph idx="1"/>
          </p:nvPr>
        </p:nvSpPr>
        <p:spPr/>
        <p:txBody>
          <a:bodyPr/>
          <a:lstStyle/>
          <a:p>
            <a:r>
              <a:rPr lang="mn-MN" dirty="0" smtClean="0"/>
              <a:t>Дэлхий дахин асар хурдацтай хөгжиж байгаа</a:t>
            </a:r>
          </a:p>
          <a:p>
            <a:endParaRPr lang="mn-MN" dirty="0" smtClean="0"/>
          </a:p>
          <a:p>
            <a:r>
              <a:rPr lang="mn-MN" dirty="0" smtClean="0"/>
              <a:t>Монгол орон асар хурдацтай хөгжиж байгаа</a:t>
            </a:r>
          </a:p>
          <a:p>
            <a:endParaRPr lang="mn-MN" dirty="0" smtClean="0"/>
          </a:p>
          <a:p>
            <a:r>
              <a:rPr lang="mn-MN" dirty="0" smtClean="0"/>
              <a:t>Шалгарал шалгалтуудыг давж гарах хэрэгтэй</a:t>
            </a:r>
            <a:endParaRPr lang="en-US" dirty="0"/>
          </a:p>
        </p:txBody>
      </p:sp>
    </p:spTree>
    <p:extLst>
      <p:ext uri="{BB962C8B-B14F-4D97-AF65-F5344CB8AC3E}">
        <p14:creationId xmlns:p14="http://schemas.microsoft.com/office/powerpoint/2010/main" val="13529017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b="1" dirty="0" smtClean="0">
                <a:latin typeface="+mn-lt"/>
              </a:rPr>
              <a:t>Суралцах орчин</a:t>
            </a:r>
            <a:endParaRPr lang="en-US" b="1" dirty="0">
              <a:latin typeface="+mn-lt"/>
            </a:endParaRPr>
          </a:p>
        </p:txBody>
      </p:sp>
      <p:sp>
        <p:nvSpPr>
          <p:cNvPr id="3" name="Content Placeholder 2"/>
          <p:cNvSpPr>
            <a:spLocks noGrp="1"/>
          </p:cNvSpPr>
          <p:nvPr>
            <p:ph idx="1"/>
          </p:nvPr>
        </p:nvSpPr>
        <p:spPr/>
        <p:txBody>
          <a:bodyPr>
            <a:normAutofit lnSpcReduction="10000"/>
          </a:bodyPr>
          <a:lstStyle/>
          <a:p>
            <a:r>
              <a:rPr lang="mn-MN" dirty="0" smtClean="0"/>
              <a:t>Мэдээ мэдээллийн өргөн баз</a:t>
            </a:r>
          </a:p>
          <a:p>
            <a:endParaRPr lang="mn-MN" dirty="0" smtClean="0"/>
          </a:p>
          <a:p>
            <a:r>
              <a:rPr lang="mn-MN" dirty="0" smtClean="0"/>
              <a:t>Хөгжих боломж</a:t>
            </a:r>
          </a:p>
          <a:p>
            <a:endParaRPr lang="mn-MN" dirty="0" smtClean="0"/>
          </a:p>
          <a:p>
            <a:r>
              <a:rPr lang="mn-MN" dirty="0" smtClean="0"/>
              <a:t>Туршлага хуваалцах</a:t>
            </a:r>
          </a:p>
          <a:p>
            <a:endParaRPr lang="mn-MN" dirty="0" smtClean="0"/>
          </a:p>
          <a:p>
            <a:r>
              <a:rPr lang="mn-MN" dirty="0" smtClean="0"/>
              <a:t>Шууд эх сурвалжаас суралцах</a:t>
            </a:r>
          </a:p>
          <a:p>
            <a:endParaRPr lang="mn-MN" dirty="0" smtClean="0"/>
          </a:p>
          <a:p>
            <a:r>
              <a:rPr lang="mn-MN" dirty="0" smtClean="0"/>
              <a:t>Суралцах орчин бүрдсэн ?</a:t>
            </a:r>
            <a:endParaRPr lang="en-US" dirty="0"/>
          </a:p>
        </p:txBody>
      </p:sp>
    </p:spTree>
    <p:extLst>
      <p:ext uri="{BB962C8B-B14F-4D97-AF65-F5344CB8AC3E}">
        <p14:creationId xmlns:p14="http://schemas.microsoft.com/office/powerpoint/2010/main" val="35433850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mn-MN" b="1" dirty="0" smtClean="0">
                <a:latin typeface="+mn-lt"/>
              </a:rPr>
              <a:t>Давуу талууд</a:t>
            </a:r>
            <a:endParaRPr lang="en-US" b="1" dirty="0">
              <a:latin typeface="+mn-lt"/>
            </a:endParaRPr>
          </a:p>
        </p:txBody>
      </p:sp>
      <p:sp>
        <p:nvSpPr>
          <p:cNvPr id="3" name="Content Placeholder 2"/>
          <p:cNvSpPr>
            <a:spLocks noGrp="1"/>
          </p:cNvSpPr>
          <p:nvPr>
            <p:ph idx="1"/>
          </p:nvPr>
        </p:nvSpPr>
        <p:spPr/>
        <p:txBody>
          <a:bodyPr/>
          <a:lstStyle/>
          <a:p>
            <a:endParaRPr lang="mn-MN" dirty="0" smtClean="0"/>
          </a:p>
          <a:p>
            <a:endParaRPr lang="mn-MN" dirty="0"/>
          </a:p>
          <a:p>
            <a:endParaRPr lang="mn-MN" dirty="0" smtClean="0"/>
          </a:p>
          <a:p>
            <a:r>
              <a:rPr lang="mn-MN" dirty="0" smtClean="0"/>
              <a:t>Шинэ хүн </a:t>
            </a:r>
            <a:r>
              <a:rPr lang="en-US" dirty="0" smtClean="0"/>
              <a:t>(diversity)</a:t>
            </a:r>
            <a:endParaRPr lang="mn-MN" dirty="0" smtClean="0"/>
          </a:p>
          <a:p>
            <a:endParaRPr lang="mn-MN" dirty="0"/>
          </a:p>
          <a:p>
            <a:endParaRPr lang="en-US" dirty="0" smtClean="0"/>
          </a:p>
          <a:p>
            <a:endParaRPr lang="en-US" dirty="0"/>
          </a:p>
          <a:p>
            <a:r>
              <a:rPr lang="mn-MN" dirty="0" smtClean="0"/>
              <a:t>Мат, бусад шинжлэх ухаан</a:t>
            </a:r>
          </a:p>
          <a:p>
            <a:pPr marL="0" indent="0">
              <a:buNone/>
            </a:pPr>
            <a:endParaRPr lang="mn-MN" dirty="0" smtClean="0"/>
          </a:p>
          <a:p>
            <a:endParaRPr lang="mn-MN" dirty="0"/>
          </a:p>
          <a:p>
            <a:endParaRPr lang="en-US" dirty="0"/>
          </a:p>
        </p:txBody>
      </p:sp>
    </p:spTree>
    <p:extLst>
      <p:ext uri="{BB962C8B-B14F-4D97-AF65-F5344CB8AC3E}">
        <p14:creationId xmlns:p14="http://schemas.microsoft.com/office/powerpoint/2010/main" val="11855750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840658" y="796417"/>
            <a:ext cx="8872219" cy="5485594"/>
          </a:xfrm>
        </p:spPr>
        <p:txBody>
          <a:bodyPr/>
          <a:lstStyle/>
          <a:p>
            <a:r>
              <a:rPr lang="mn-MN" sz="2800" dirty="0" smtClean="0"/>
              <a:t>Б.Цэнгүүн</a:t>
            </a:r>
          </a:p>
          <a:p>
            <a:r>
              <a:rPr lang="en-US" sz="2800" dirty="0" smtClean="0"/>
              <a:t>Cornell University</a:t>
            </a:r>
            <a:r>
              <a:rPr lang="mn-MN" sz="2800" dirty="0" smtClean="0"/>
              <a:t> </a:t>
            </a:r>
            <a:endParaRPr lang="en-US" sz="2800" dirty="0" smtClean="0"/>
          </a:p>
          <a:p>
            <a:r>
              <a:rPr lang="en-US" sz="2800" dirty="0" smtClean="0"/>
              <a:t>(</a:t>
            </a:r>
            <a:r>
              <a:rPr lang="mn-MN" sz="2800" dirty="0" smtClean="0"/>
              <a:t>Шинэ Монгол Ахлах Сургуулийн төгсөгч</a:t>
            </a:r>
            <a:r>
              <a:rPr lang="en-US" sz="2800" dirty="0" smtClean="0"/>
              <a:t>)</a:t>
            </a:r>
          </a:p>
          <a:p>
            <a:endParaRPr lang="en-US" sz="2800" dirty="0" smtClean="0"/>
          </a:p>
          <a:p>
            <a:endParaRPr lang="en-US" sz="2800" dirty="0" smtClean="0"/>
          </a:p>
          <a:p>
            <a:endParaRPr lang="en-US" sz="2800" dirty="0"/>
          </a:p>
          <a:p>
            <a:endParaRPr lang="en-US" sz="2800" dirty="0" smtClean="0"/>
          </a:p>
        </p:txBody>
      </p:sp>
      <p:pic>
        <p:nvPicPr>
          <p:cNvPr id="10242" name="Picture 2" descr="http://3.bp.blogspot.com/-HgYIBXb-TFk/TfHwnmTOEKI/AAAAAAAAAGw/bWRcaxjRjNo/s200/Screen+shot+2011-06-10+at+6.01.19+P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3623916"/>
            <a:ext cx="1905000" cy="1685926"/>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amsa.mn/wp-content/uploads/2012/04/amsalogofitt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525161"/>
            <a:ext cx="2679700" cy="1784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1855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rso.cornell.edu/bgpsa/documents/cornelllogo.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6280" y="644333"/>
            <a:ext cx="2704582" cy="26322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farm1.staticflickr.com/83/277417029_af714d63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437708"/>
            <a:ext cx="3785190" cy="283889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education-portal.com/cimages/multimages/16/cornell_universit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440443"/>
            <a:ext cx="3810000" cy="26289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www.dfa.cornell.edu/dfa/cms/manage/images/artsquad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3998442"/>
            <a:ext cx="3502025" cy="206001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classof1996.files.wordpress.com/2011/03/libe_slope_card1.jpg?w=300&amp;h=2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57302" y="1787537"/>
            <a:ext cx="28575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942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mongol.moriton.net/wp-content/blogs.dir/45/files/goyomsog-morid/honindoo-ybayda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685800"/>
            <a:ext cx="4462183" cy="29910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www.rongpleng.com/wp-content/uploads/2011/06/Chinas-Got-Talent-show-2011-12-year-old-Mongolian-boy-singing-Mother-in-the-Drea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214125"/>
            <a:ext cx="38100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t2.gstatic.com/images?q=tbn:ANd9GcS-d88vPL1zIXj2zYIZWFBRQHos4eLqjwWOJIUsaoEZIqj0ZrCJzL9h9sdS7Q"/>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1" y="939375"/>
            <a:ext cx="3124200" cy="2071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0250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upload.wikimedia.org/wikipedia/commons/thumb/a/a1/Statue_of_Liberty_7.jpg/250px-Statue_of_Liberty_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641" y="735645"/>
            <a:ext cx="2381250" cy="328612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www.bellona.org/imagearchive/white-hous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4600" y="702988"/>
            <a:ext cx="3657602" cy="274320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www.lipartyrides.com/images/newyork-tour-limo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3626983"/>
            <a:ext cx="3211718" cy="2408789"/>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http://cdn.walyou.com/wp-content/uploads/2012/03/Obama-not-bad-mem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5039" y="1148126"/>
            <a:ext cx="3230278" cy="2461164"/>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http://melissadishes.files.wordpress.com/2011/09/bigmc.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3171" y="4648200"/>
            <a:ext cx="1848604" cy="1387572"/>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http://greenobles.com/data_images/kobe-bryant/kobe-bryant-03.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641" y="4255948"/>
            <a:ext cx="2304019" cy="1779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5378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http://i3.kym-cdn.com/entries/icons/original/000/003/617/okaygu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3733800"/>
            <a:ext cx="2676525" cy="224790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reviews.edu.pl/wp-content/uploads/2011/04/Customer-Reviews-Student-College-Loans.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286000"/>
            <a:ext cx="2561121" cy="256112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ttp://dailymindfulness.net/wp-content/uploads/2012/05/People-Talking-Profile-Imag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200" y="457200"/>
            <a:ext cx="3211191"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4229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descr="data:image/jpeg;base64,/9j/4AAQSkZJRgABAQAAAQABAAD/2wCEAAkGBggGERUIBwgVEBMRFBMSFBgVEhATGRcWGhYVGR0UEhMcJyYeFyQlGhQYIS8sJScpLSwsGB49NTA2NSYtLCkBCQoKDgwOGg8PGikkHyQsKSorNCs1LS00KzUvNSwqMC4xKTQsNS8xLywvNSk1NSk0KTU1NTQpKTU1Li0vMjIpKf/AABEIAKwBAwMBIgACEQEDEQH/xAAcAAEAAgIDAQAAAAAAAAAAAAAABgcFCAEDBAL/xAA8EAEAAgECAwQFCAgHAAAAAAAAAQIDBAUGESEHQVFhEjFxgZETMkJSYnKhwSIjgpKisbLRFSQlM0Ph8P/EABsBAQACAwEBAAAAAAAAAAAAAAAFBgMEBwEC/8QAMxEBAAEDAQMJBgcBAAAAAAAAAAECAwQRBSExBhJRYXGBscHREzJBUpGhFCIzQuHw8SP/2gAMAwEAAhEDEQA/ALxAAAAAAAAAAAAAAAAAAAAAAAAAAAAAAAAAAAAAAAAAAAAAAAAAAAAAAAAAAAAAAAAAAAAAAAAAAAAAAB16jUYtLWc2oyRStYmbTMxEREd8yPYiZnSHYxG98WbRw/H+oaytbd1I/SvP7MdY9/JXnF/apn1czo9gmcdPVOX6VvufVjz9fsV5ky3zTOTLebTPWZmZmZnxme9H3s2Kd1G9b9ncmK7sRXkzzY6I49/R/eCz9y7Z6x+jtm28/tZbcv4K/wB2A1HaxxFm60vix/dxRP8AVMoaNGrJu1fFarOxMG1GkW4nt3+KW4+1PiWnW2qpb24sf5RDLaDtl3HF012gx5I+xN8c/j6UK8HkZF2P3SyXNj4NyNJtU927wXjsvafsW7TGPNlnT3nuycojn5Xjp8eSW0vXJHpUtExPWJjrz9ktYUg4a433ThmYjBl9PF347zM1/Z+rPsbdrOnhXCuZ3JanSasWrf0T5T6/Vf4w3DXFWg4ox/LaK/K0cvTpPL0qz5x3x5syk6aoqjWFIu2q7Nc0XI0mOMSAPWMAAAAAAAAAAAAAAAAAAABxe9ccTe9oiI6zM9IiPGZUlx/xzk4iyTo9FeY09J6cunykx9O3l4QlfazxROhxxs+lvyvmj0skx3Y+6v7Ux8I81RovMv7/AGdPevnJvZURT+Luxvn3err9ABGrsAAAAAA9m0bvq9jy11uhy+jevwmO+to74lffC3Emm4nwRrMHS0fo5K8+tbeHs8GvCRcDcTW4Z1Vct7fqsnKmWPszPzvbE9fi28a/7OrSeEq9tzZVOZZmuiPz08Ovq9F+jitovHpVnnE9Ycpty4AAAAAAAAAAAAAAAAAAfN71xxN7zyiI5zPk+mC441s6DQajNWeU/JzSPbeYr0/efNVXNiZZbFqbtym3HxmI+u5R/Ee7333U5dfefn2n0fKsdKx8IhjQVyZmZ1l2m3bpt0RRTwiNIAHjIAAAAAAAAvTs03md30NK5Lc74JnDb2RETWf3ZiPclapuxjWzTNn0cz0vSuSPbWeX8r/gtlPY1fPtxLkm28eMfNuUxwmdY79/iANhEAAAAAAAAAAAAAAAACIdqtprt14jvvij+L/pL0W7TdPOo23Ny+jOO/wvX+7Fe/Tq7JSGzJiMy1M/NT4qJAV52IAAAAAAAAABNOyS013DlHfiyR/TK61Ndj+nnJrb5e6mG342rC5U1hfpd7mXKeYnO3fLHmANxWgAAAAAAAAAAAAAAAB4940Ebpgy6K3/AC47098xPKfjyeweTGsaPqiqaKoqjjG9rFlx2w2nHkrymszEx4THSYfKZdqPD9tp1c6zHT9Xqed48r/Sj49fehqu3KJoqmmXZsTJpybNN6nhMf7HcAPhtAAAAAAAO7R6TNrsldNpqele9orWPGZnkPJmIjWVqdje1zhw5twvH+5eMdfZSOczHvt+CxXg2Lasex6fHoMXqx1iJnxt65t75mZe9YbNHMoilx3aWV+Kyq73wmd3ZG6PsAMrQAAAAAAAAAAAAAAAAAAYjinh7DxNp7aHLPK3zqW+rePVP5T5S1/3DQaja8ltJq8c1vSeUxP5eMNl0V434HwcU0+Ww8qaikcq27rR9S/l4T3NLKx/aRzqeKz7B2xGHV7G77k/afTpUUPTuO26rack6XXYZx3r64n+cT3w8yGmNN0uk01RVEVUzrEgA+gAAABavZXwdbTx/jmvx8ptExhiY9UT68k+31R5c/FjuA+zbJrpruW94vRxxytTHPSb+E3jur5d/s9dtVrFY9GscohJYmNOvPq7lH5QbapmmcWxOuvvT5R5/RyAlFFAAAAAAAAAAAAAAAAAAAAAAYvfuG9u4jp8juOCLcvm2jpav3bf+hV2/wDZNum3zOTarRqaeHSuSI86+q3u+C5Rgu49FzjxSuDtfJwt1udaeid8fx3NZtVotTobfJavBbHbwtWaz8JdLZrUaXBq49DUYa3jwtWLR8JYfUcDcO6nrfaMUfdrNP6eTRqwJ/bK02eVluY/625jsnXx0a+uYrNukQvzH2e8NY+tdpp75yW/CZZXRbJtu29dFoMWPzrjpWfjEc3kYFXxmH3c5WWIj8luqe3SPVR2y8Bb7vcxOLRzjpP08nOlfbET1n3Qs3hfs023YZjUar/MZo6xNo/RrP2KfnPNMRuWsSi3v4yrudt/Ky4miJ5tPRHnIA2kAAAAAAAAAAAAAAAAAAAAAAAAAAAAAAAAAAAAAAAAAAAAAAAAAAAAAAAAAAAAAAAAAAAAAAAAAAAAAAAAA//Z"/>
          <p:cNvSpPr>
            <a:spLocks noChangeAspect="1" noChangeArrowheads="1"/>
          </p:cNvSpPr>
          <p:nvPr/>
        </p:nvSpPr>
        <p:spPr bwMode="auto">
          <a:xfrm>
            <a:off x="63500" y="-798513"/>
            <a:ext cx="2466975" cy="1638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data:image/jpeg;base64,/9j/4AAQSkZJRgABAQAAAQABAAD/2wCEAAkGBggGERUIBwgVEBMRFBMSFBgVEhATGRcWGhYVGR0UEhMcJyYeFyQlGhQYIS8sJScpLSwsGB49NTA2NSYtLCkBCQoKDgwOGg8PGikkHyQsKSorNCs1LS00KzUvNSwqMC4xKTQsNS8xLywvNSk1NSk0KTU1NTQpKTU1Li0vMjIpKf/AABEIAKwBAwMBIgACEQEDEQH/xAAcAAEAAgIDAQAAAAAAAAAAAAAABgcFCAEDBAL/xAA8EAEAAgECAwQFCAgHAAAAAAAAAQIDBAUGESEHQVFhEjFxgZETMkJSYnKhwSIjgpKisbLRFSQlM0Ph8P/EABsBAQACAwEBAAAAAAAAAAAAAAAFBgMEBwEC/8QAMxEBAAEDAQMJBgcBAAAAAAAAAAECAwQRBSExBhJRYXGBscHREzJBUpGhFCIzQuHw8SP/2gAMAwEAAhEDEQA/ALxAAAAAAAAAAAAAAAAAAAAAAAAAAAAAAAAAAAAAAAAAAAAAAAAAAAAAAAAAAAAAAAAAAAAAAAAAAAAAAB16jUYtLWc2oyRStYmbTMxEREd8yPYiZnSHYxG98WbRw/H+oaytbd1I/SvP7MdY9/JXnF/apn1czo9gmcdPVOX6VvufVjz9fsV5ky3zTOTLebTPWZmZmZnxme9H3s2Kd1G9b9ncmK7sRXkzzY6I49/R/eCz9y7Z6x+jtm28/tZbcv4K/wB2A1HaxxFm60vix/dxRP8AVMoaNGrJu1fFarOxMG1GkW4nt3+KW4+1PiWnW2qpb24sf5RDLaDtl3HF012gx5I+xN8c/j6UK8HkZF2P3SyXNj4NyNJtU927wXjsvafsW7TGPNlnT3nuycojn5Xjp8eSW0vXJHpUtExPWJjrz9ktYUg4a433ThmYjBl9PF347zM1/Z+rPsbdrOnhXCuZ3JanSasWrf0T5T6/Vf4w3DXFWg4ox/LaK/K0cvTpPL0qz5x3x5syk6aoqjWFIu2q7Nc0XI0mOMSAPWMAAAAAAAAAAAAAAAAAAABxe9ccTe9oiI6zM9IiPGZUlx/xzk4iyTo9FeY09J6cunykx9O3l4QlfazxROhxxs+lvyvmj0skx3Y+6v7Ux8I81RovMv7/AGdPevnJvZURT+Luxvn3err9ABGrsAAAAAA9m0bvq9jy11uhy+jevwmO+to74lffC3Emm4nwRrMHS0fo5K8+tbeHs8GvCRcDcTW4Z1Vct7fqsnKmWPszPzvbE9fi28a/7OrSeEq9tzZVOZZmuiPz08Ovq9F+jitovHpVnnE9Ycpty4AAAAAAAAAAAAAAAAAAfN71xxN7zyiI5zPk+mC441s6DQajNWeU/JzSPbeYr0/efNVXNiZZbFqbtym3HxmI+u5R/Ee7333U5dfefn2n0fKsdKx8IhjQVyZmZ1l2m3bpt0RRTwiNIAHjIAAAAAAAAvTs03md30NK5Lc74JnDb2RETWf3ZiPclapuxjWzTNn0cz0vSuSPbWeX8r/gtlPY1fPtxLkm28eMfNuUxwmdY79/iANhEAAAAAAAAAAAAAAAACIdqtprt14jvvij+L/pL0W7TdPOo23Ny+jOO/wvX+7Fe/Tq7JSGzJiMy1M/NT4qJAV52IAAAAAAAAABNOyS013DlHfiyR/TK61Ndj+nnJrb5e6mG342rC5U1hfpd7mXKeYnO3fLHmANxWgAAAAAAAAAAAAAAAB4940Ebpgy6K3/AC47098xPKfjyeweTGsaPqiqaKoqjjG9rFlx2w2nHkrymszEx4THSYfKZdqPD9tp1c6zHT9Xqed48r/Sj49fehqu3KJoqmmXZsTJpybNN6nhMf7HcAPhtAAAAAAAO7R6TNrsldNpqele9orWPGZnkPJmIjWVqdje1zhw5twvH+5eMdfZSOczHvt+CxXg2Lasex6fHoMXqx1iJnxt65t75mZe9YbNHMoilx3aWV+Kyq73wmd3ZG6PsAMrQAAAAAAAAAAAAAAAAAAYjinh7DxNp7aHLPK3zqW+rePVP5T5S1/3DQaja8ltJq8c1vSeUxP5eMNl0V434HwcU0+Ww8qaikcq27rR9S/l4T3NLKx/aRzqeKz7B2xGHV7G77k/afTpUUPTuO26rack6XXYZx3r64n+cT3w8yGmNN0uk01RVEVUzrEgA+gAAABavZXwdbTx/jmvx8ptExhiY9UT68k+31R5c/FjuA+zbJrpruW94vRxxytTHPSb+E3jur5d/s9dtVrFY9GscohJYmNOvPq7lH5QbapmmcWxOuvvT5R5/RyAlFFAAAAAAAAAAAAAAAAAAAAAAYvfuG9u4jp8juOCLcvm2jpav3bf+hV2/wDZNum3zOTarRqaeHSuSI86+q3u+C5Rgu49FzjxSuDtfJwt1udaeid8fx3NZtVotTobfJavBbHbwtWaz8JdLZrUaXBq49DUYa3jwtWLR8JYfUcDcO6nrfaMUfdrNP6eTRqwJ/bK02eVluY/625jsnXx0a+uYrNukQvzH2e8NY+tdpp75yW/CZZXRbJtu29dFoMWPzrjpWfjEc3kYFXxmH3c5WWIj8luqe3SPVR2y8Bb7vcxOLRzjpP08nOlfbET1n3Qs3hfs023YZjUar/MZo6xNo/RrP2KfnPNMRuWsSi3v4yrudt/Ky4miJ5tPRHnIA2kAAAAAAAAAAAAAAAAAAAAAAAAAAAAAAAAAAAAAAAAAAAAAAAAAAAAAAAAAAAAAAAAAAAAAAAAAAAAAAAAA//Z"/>
          <p:cNvSpPr>
            <a:spLocks noChangeAspect="1" noChangeArrowheads="1"/>
          </p:cNvSpPr>
          <p:nvPr/>
        </p:nvSpPr>
        <p:spPr bwMode="auto">
          <a:xfrm>
            <a:off x="215900" y="-646113"/>
            <a:ext cx="2466975" cy="1638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8" descr="data:image/jpeg;base64,/9j/4AAQSkZJRgABAQAAAQABAAD/2wCEAAkGBggGERUIBwgVEBMRFBMSFBgVEhATGRcWGhYVGR0UEhMcJyYeFyQlGhQYIS8sJScpLSwsGB49NTA2NSYtLCkBCQoKDgwOGg8PGikkHyQsKSorNCs1LS00KzUvNSwqMC4xKTQsNS8xLywvNSk1NSk0KTU1NTQpKTU1Li0vMjIpKf/AABEIAKwBAwMBIgACEQEDEQH/xAAcAAEAAgIDAQAAAAAAAAAAAAAABgcFCAEDBAL/xAA8EAEAAgECAwQFCAgHAAAAAAAAAQIDBAUGESEHQVFhEjFxgZETMkJSYnKhwSIjgpKisbLRFSQlM0Ph8P/EABsBAQACAwEBAAAAAAAAAAAAAAAFBgMEBwEC/8QAMxEBAAEDAQMJBgcBAAAAAAAAAAECAwQRBSExBhJRYXGBscHREzJBUpGhFCIzQuHw8SP/2gAMAwEAAhEDEQA/ALxAAAAAAAAAAAAAAAAAAAAAAAAAAAAAAAAAAAAAAAAAAAAAAAAAAAAAAAAAAAAAAAAAAAAAAAAAAAAAAB16jUYtLWc2oyRStYmbTMxEREd8yPYiZnSHYxG98WbRw/H+oaytbd1I/SvP7MdY9/JXnF/apn1czo9gmcdPVOX6VvufVjz9fsV5ky3zTOTLebTPWZmZmZnxme9H3s2Kd1G9b9ncmK7sRXkzzY6I49/R/eCz9y7Z6x+jtm28/tZbcv4K/wB2A1HaxxFm60vix/dxRP8AVMoaNGrJu1fFarOxMG1GkW4nt3+KW4+1PiWnW2qpb24sf5RDLaDtl3HF012gx5I+xN8c/j6UK8HkZF2P3SyXNj4NyNJtU927wXjsvafsW7TGPNlnT3nuycojn5Xjp8eSW0vXJHpUtExPWJjrz9ktYUg4a433ThmYjBl9PF347zM1/Z+rPsbdrOnhXCuZ3JanSasWrf0T5T6/Vf4w3DXFWg4ox/LaK/K0cvTpPL0qz5x3x5syk6aoqjWFIu2q7Nc0XI0mOMSAPWMAAAAAAAAAAAAAAAAAAABxe9ccTe9oiI6zM9IiPGZUlx/xzk4iyTo9FeY09J6cunykx9O3l4QlfazxROhxxs+lvyvmj0skx3Y+6v7Ux8I81RovMv7/AGdPevnJvZURT+Luxvn3err9ABGrsAAAAAA9m0bvq9jy11uhy+jevwmO+to74lffC3Emm4nwRrMHS0fo5K8+tbeHs8GvCRcDcTW4Z1Vct7fqsnKmWPszPzvbE9fi28a/7OrSeEq9tzZVOZZmuiPz08Ovq9F+jitovHpVnnE9Ycpty4AAAAAAAAAAAAAAAAAAfN71xxN7zyiI5zPk+mC441s6DQajNWeU/JzSPbeYr0/efNVXNiZZbFqbtym3HxmI+u5R/Ee7333U5dfefn2n0fKsdKx8IhjQVyZmZ1l2m3bpt0RRTwiNIAHjIAAAAAAAAvTs03md30NK5Lc74JnDb2RETWf3ZiPclapuxjWzTNn0cz0vSuSPbWeX8r/gtlPY1fPtxLkm28eMfNuUxwmdY79/iANhEAAAAAAAAAAAAAAAACIdqtprt14jvvij+L/pL0W7TdPOo23Ny+jOO/wvX+7Fe/Tq7JSGzJiMy1M/NT4qJAV52IAAAAAAAAABNOyS013DlHfiyR/TK61Ndj+nnJrb5e6mG342rC5U1hfpd7mXKeYnO3fLHmANxWgAAAAAAAAAAAAAAAB4940Ebpgy6K3/AC47098xPKfjyeweTGsaPqiqaKoqjjG9rFlx2w2nHkrymszEx4THSYfKZdqPD9tp1c6zHT9Xqed48r/Sj49fehqu3KJoqmmXZsTJpybNN6nhMf7HcAPhtAAAAAAAO7R6TNrsldNpqele9orWPGZnkPJmIjWVqdje1zhw5twvH+5eMdfZSOczHvt+CxXg2Lasex6fHoMXqx1iJnxt65t75mZe9YbNHMoilx3aWV+Kyq73wmd3ZG6PsAMrQAAAAAAAAAAAAAAAAAAYjinh7DxNp7aHLPK3zqW+rePVP5T5S1/3DQaja8ltJq8c1vSeUxP5eMNl0V434HwcU0+Ww8qaikcq27rR9S/l4T3NLKx/aRzqeKz7B2xGHV7G77k/afTpUUPTuO26rack6XXYZx3r64n+cT3w8yGmNN0uk01RVEVUzrEgA+gAAABavZXwdbTx/jmvx8ptExhiY9UT68k+31R5c/FjuA+zbJrpruW94vRxxytTHPSb+E3jur5d/s9dtVrFY9GscohJYmNOvPq7lH5QbapmmcWxOuvvT5R5/RyAlFFAAAAAAAAAAAAAAAAAAAAAAYvfuG9u4jp8juOCLcvm2jpav3bf+hV2/wDZNum3zOTarRqaeHSuSI86+q3u+C5Rgu49FzjxSuDtfJwt1udaeid8fx3NZtVotTobfJavBbHbwtWaz8JdLZrUaXBq49DUYa3jwtWLR8JYfUcDcO6nrfaMUfdrNP6eTRqwJ/bK02eVluY/625jsnXx0a+uYrNukQvzH2e8NY+tdpp75yW/CZZXRbJtu29dFoMWPzrjpWfjEc3kYFXxmH3c5WWIj8luqe3SPVR2y8Bb7vcxOLRzjpP08nOlfbET1n3Qs3hfs023YZjUar/MZo6xNo/RrP2KfnPNMRuWsSi3v4yrudt/Ky4miJ5tPRHnIA2kAAAAAAAAAAAAAAAAAAAAAAAAAAAAAAAAAAAAAAAAAAAAAAAAAAAAAAAAAAAAAAAAAAAAAAAAAAAAAAAAA//Z"/>
          <p:cNvSpPr>
            <a:spLocks noChangeAspect="1" noChangeArrowheads="1"/>
          </p:cNvSpPr>
          <p:nvPr/>
        </p:nvSpPr>
        <p:spPr bwMode="auto">
          <a:xfrm>
            <a:off x="368300" y="-493713"/>
            <a:ext cx="2466975" cy="1638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30" name="Picture 10" descr="http://www.worldstatesmen.org/jp.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3734" y="2804413"/>
            <a:ext cx="2300745" cy="153383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132" name="Picture 12" descr="http://static.guim.co.uk/sys-images/Guardian/Pix/pictures/2010/2/2/1265119902051/Sumo-grand-champion-Asash-0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6337" y="4442609"/>
            <a:ext cx="2395537" cy="1550403"/>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http://4.bp.blogspot.com/-LGgt_KobTIs/Tc3F0JwCAPI/AAAAAAAAAYk/zFwQTSe11ng/s1600/japansaf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3854" y="2760168"/>
            <a:ext cx="2163094" cy="1622321"/>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descr="http://thediplomat.com/a-new-japan/files/2011/05/Students-400x30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3854" y="4488566"/>
            <a:ext cx="2180866" cy="1635650"/>
          </a:xfrm>
          <a:prstGeom prst="rect">
            <a:avLst/>
          </a:prstGeom>
          <a:noFill/>
          <a:extLst>
            <a:ext uri="{909E8E84-426E-40DD-AFC4-6F175D3DCCD1}">
              <a14:hiddenFill xmlns:a14="http://schemas.microsoft.com/office/drawing/2010/main">
                <a:solidFill>
                  <a:srgbClr val="FFFFFF"/>
                </a:solidFill>
              </a14:hiddenFill>
            </a:ext>
          </a:extLst>
        </p:spPr>
      </p:pic>
      <p:pic>
        <p:nvPicPr>
          <p:cNvPr id="5137"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3734" y="1867016"/>
            <a:ext cx="4622541"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9" name="Picture 19" descr="http://images.brighthub.com/77/8/7780a93d7967af7e261d57b3de666e224acb8eb6_large.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1077" y="685800"/>
            <a:ext cx="2710324" cy="2414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0832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156" y="1128249"/>
            <a:ext cx="3298728" cy="875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3465868" y="2433482"/>
            <a:ext cx="1799304" cy="276999"/>
          </a:xfrm>
          <a:prstGeom prst="rect">
            <a:avLst/>
          </a:prstGeom>
          <a:noFill/>
        </p:spPr>
        <p:txBody>
          <a:bodyPr wrap="square" lIns="0" tIns="0" rIns="0" bIns="0" rtlCol="0">
            <a:spAutoFit/>
          </a:bodyPr>
          <a:lstStyle/>
          <a:p>
            <a:pPr>
              <a:spcAft>
                <a:spcPts val="300"/>
              </a:spcAft>
            </a:pPr>
            <a:r>
              <a:rPr lang="en-US" dirty="0" smtClean="0">
                <a:solidFill>
                  <a:schemeClr val="tx2"/>
                </a:solidFill>
              </a:rPr>
              <a:t>www.earcmn.org</a:t>
            </a: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141" y="2971800"/>
            <a:ext cx="6638461" cy="1123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111910" y="4881725"/>
            <a:ext cx="2890684" cy="276999"/>
          </a:xfrm>
          <a:prstGeom prst="rect">
            <a:avLst/>
          </a:prstGeom>
          <a:noFill/>
        </p:spPr>
        <p:txBody>
          <a:bodyPr wrap="square" lIns="0" tIns="0" rIns="0" bIns="0" rtlCol="0">
            <a:spAutoFit/>
          </a:bodyPr>
          <a:lstStyle/>
          <a:p>
            <a:pPr>
              <a:spcAft>
                <a:spcPts val="300"/>
              </a:spcAft>
            </a:pPr>
            <a:r>
              <a:rPr lang="en-US" dirty="0" smtClean="0">
                <a:solidFill>
                  <a:schemeClr val="tx2"/>
                </a:solidFill>
              </a:rPr>
              <a:t>www.USAPGLOBAL.org</a:t>
            </a:r>
          </a:p>
        </p:txBody>
      </p:sp>
    </p:spTree>
    <p:extLst>
      <p:ext uri="{BB962C8B-B14F-4D97-AF65-F5344CB8AC3E}">
        <p14:creationId xmlns:p14="http://schemas.microsoft.com/office/powerpoint/2010/main" val="25704396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62000" y="609600"/>
            <a:ext cx="7581111" cy="1524000"/>
          </a:xfrm>
        </p:spPr>
        <p:txBody>
          <a:bodyPr>
            <a:normAutofit fontScale="92500" lnSpcReduction="10000"/>
          </a:bodyPr>
          <a:lstStyle/>
          <a:p>
            <a:pPr algn="ctr"/>
            <a:r>
              <a:rPr lang="mn-MN" sz="3600" dirty="0" smtClean="0"/>
              <a:t>АНУ-н их дээд сургуулиудад суралцахын зарим давуу талууд юу вэ? </a:t>
            </a:r>
          </a:p>
          <a:p>
            <a:pPr marL="0" indent="0" algn="ctr">
              <a:buNone/>
            </a:pPr>
            <a:r>
              <a:rPr lang="en-US" sz="2600" dirty="0" smtClean="0"/>
              <a:t>(</a:t>
            </a:r>
            <a:r>
              <a:rPr lang="mn-MN" sz="2600" dirty="0" smtClean="0"/>
              <a:t>хувийн туршлагаас хуваалцвал</a:t>
            </a:r>
            <a:r>
              <a:rPr lang="en-US" sz="2600" dirty="0" smtClean="0"/>
              <a:t>)</a:t>
            </a:r>
            <a:endParaRPr lang="en-US" sz="2600" dirty="0"/>
          </a:p>
        </p:txBody>
      </p:sp>
      <p:sp>
        <p:nvSpPr>
          <p:cNvPr id="5" name="Footer Placeholder 4"/>
          <p:cNvSpPr>
            <a:spLocks noGrp="1"/>
          </p:cNvSpPr>
          <p:nvPr>
            <p:ph type="ftr" sz="quarter" idx="3"/>
          </p:nvPr>
        </p:nvSpPr>
        <p:spPr/>
        <p:txBody>
          <a:bodyPr/>
          <a:lstStyle/>
          <a:p>
            <a:r>
              <a:rPr lang="en-US" smtClean="0"/>
              <a:t>Deloitte</a:t>
            </a:r>
            <a:endParaRPr lang="en-US" dirty="0"/>
          </a:p>
        </p:txBody>
      </p:sp>
      <p:sp>
        <p:nvSpPr>
          <p:cNvPr id="6" name="Slide Number Placeholder 5"/>
          <p:cNvSpPr>
            <a:spLocks noGrp="1"/>
          </p:cNvSpPr>
          <p:nvPr>
            <p:ph type="sldNum" sz="quarter" idx="4"/>
          </p:nvPr>
        </p:nvSpPr>
        <p:spPr/>
        <p:txBody>
          <a:bodyPr/>
          <a:lstStyle/>
          <a:p>
            <a:fld id="{313880FF-B11A-4FA9-B5CC-7226C1B8517C}" type="slidenum">
              <a:rPr lang="en-US" smtClean="0"/>
              <a:pPr/>
              <a:t>17</a:t>
            </a:fld>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971" y="2362200"/>
            <a:ext cx="5296361" cy="3440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17659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304800" y="3411793"/>
            <a:ext cx="8424000" cy="2760407"/>
          </a:xfrm>
        </p:spPr>
        <p:txBody>
          <a:bodyPr>
            <a:normAutofit fontScale="70000" lnSpcReduction="20000"/>
          </a:bodyPr>
          <a:lstStyle/>
          <a:p>
            <a:pPr marL="342900" indent="-342900">
              <a:lnSpc>
                <a:spcPct val="200000"/>
              </a:lnSpc>
              <a:buAutoNum type="arabicPeriod"/>
            </a:pPr>
            <a:r>
              <a:rPr lang="mn-MN" b="1" dirty="0" smtClean="0">
                <a:solidFill>
                  <a:schemeClr val="tx1"/>
                </a:solidFill>
              </a:rPr>
              <a:t>Анхны сонгосон мэргэжлээ солих боломжтой </a:t>
            </a:r>
          </a:p>
          <a:p>
            <a:pPr marL="342900" lvl="0" indent="-342900">
              <a:lnSpc>
                <a:spcPct val="200000"/>
              </a:lnSpc>
              <a:buFont typeface="Arial" pitchFamily="34" charset="0"/>
              <a:buAutoNum type="arabicPeriod"/>
            </a:pPr>
            <a:r>
              <a:rPr lang="en-US" b="1" dirty="0">
                <a:solidFill>
                  <a:schemeClr val="tx1"/>
                </a:solidFill>
              </a:rPr>
              <a:t>TA</a:t>
            </a:r>
            <a:r>
              <a:rPr lang="mn-MN" b="1" dirty="0">
                <a:solidFill>
                  <a:schemeClr val="tx1"/>
                </a:solidFill>
              </a:rPr>
              <a:t> болон </a:t>
            </a:r>
            <a:r>
              <a:rPr lang="en-US" b="1" dirty="0">
                <a:solidFill>
                  <a:schemeClr val="tx1"/>
                </a:solidFill>
              </a:rPr>
              <a:t>office </a:t>
            </a:r>
            <a:r>
              <a:rPr lang="en-US" b="1" dirty="0" smtClean="0">
                <a:solidFill>
                  <a:schemeClr val="tx1"/>
                </a:solidFill>
              </a:rPr>
              <a:t>hours</a:t>
            </a:r>
            <a:r>
              <a:rPr lang="mn-MN" b="1" dirty="0">
                <a:solidFill>
                  <a:schemeClr val="tx1"/>
                </a:solidFill>
              </a:rPr>
              <a:t> </a:t>
            </a:r>
            <a:r>
              <a:rPr lang="mn-MN" b="1" dirty="0" smtClean="0">
                <a:solidFill>
                  <a:schemeClr val="tx1"/>
                </a:solidFill>
              </a:rPr>
              <a:t>байдгаараа давуу талтай</a:t>
            </a:r>
          </a:p>
          <a:p>
            <a:pPr marL="342900" lvl="0" indent="-342900">
              <a:lnSpc>
                <a:spcPct val="200000"/>
              </a:lnSpc>
              <a:buFont typeface="Arial" pitchFamily="34" charset="0"/>
              <a:buAutoNum type="arabicPeriod"/>
            </a:pPr>
            <a:r>
              <a:rPr lang="mn-MN" b="1" dirty="0" smtClean="0">
                <a:solidFill>
                  <a:schemeClr val="tx1"/>
                </a:solidFill>
              </a:rPr>
              <a:t>Лекц нь илүү нээлттэй ба асуулт хариулт хэлбэрт тулгуурласан</a:t>
            </a:r>
          </a:p>
          <a:p>
            <a:pPr marL="342900" lvl="0" indent="-342900">
              <a:lnSpc>
                <a:spcPct val="200000"/>
              </a:lnSpc>
              <a:buFont typeface="Arial" pitchFamily="34" charset="0"/>
              <a:buAutoNum type="arabicPeriod"/>
            </a:pPr>
            <a:r>
              <a:rPr lang="mn-MN" b="1" dirty="0" smtClean="0">
                <a:solidFill>
                  <a:schemeClr val="tx1"/>
                </a:solidFill>
              </a:rPr>
              <a:t>Сургалтын агуулга нь хүнийг өв тэгш хүмүүжүүлэх талаас сайн анхаардаг</a:t>
            </a:r>
            <a:endParaRPr lang="en-US" b="1" dirty="0">
              <a:solidFill>
                <a:schemeClr val="tx1"/>
              </a:solidFill>
            </a:endParaRPr>
          </a:p>
        </p:txBody>
      </p:sp>
      <p:sp>
        <p:nvSpPr>
          <p:cNvPr id="5" name="Footer Placeholder 4"/>
          <p:cNvSpPr>
            <a:spLocks noGrp="1"/>
          </p:cNvSpPr>
          <p:nvPr>
            <p:ph type="ftr" sz="quarter" idx="3"/>
          </p:nvPr>
        </p:nvSpPr>
        <p:spPr/>
        <p:txBody>
          <a:bodyPr/>
          <a:lstStyle/>
          <a:p>
            <a:r>
              <a:rPr lang="en-US" smtClean="0"/>
              <a:t>Deloitte</a:t>
            </a:r>
            <a:endParaRPr lang="en-US" dirty="0"/>
          </a:p>
        </p:txBody>
      </p:sp>
      <p:sp>
        <p:nvSpPr>
          <p:cNvPr id="6" name="Slide Number Placeholder 5"/>
          <p:cNvSpPr>
            <a:spLocks noGrp="1"/>
          </p:cNvSpPr>
          <p:nvPr>
            <p:ph type="sldNum" sz="quarter" idx="4"/>
          </p:nvPr>
        </p:nvSpPr>
        <p:spPr/>
        <p:txBody>
          <a:bodyPr/>
          <a:lstStyle/>
          <a:p>
            <a:fld id="{313880FF-B11A-4FA9-B5CC-7226C1B8517C}" type="slidenum">
              <a:rPr lang="en-US" smtClean="0"/>
              <a:pPr/>
              <a:t>18</a:t>
            </a:fld>
            <a:endParaRPr lang="en-US" dirty="0"/>
          </a:p>
        </p:txBody>
      </p:sp>
      <p:pic>
        <p:nvPicPr>
          <p:cNvPr id="8194" name="Picture 2" descr="http://www.kean.edu/~tpc/Classroom%20Management/MPj04225910000%5b1%5d.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066" t="3803" b="15898"/>
          <a:stretch/>
        </p:blipFill>
        <p:spPr bwMode="auto">
          <a:xfrm>
            <a:off x="3276600" y="609600"/>
            <a:ext cx="5029201" cy="2802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6708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3"/>
          </p:nvPr>
        </p:nvSpPr>
        <p:spPr/>
        <p:txBody>
          <a:bodyPr/>
          <a:lstStyle/>
          <a:p>
            <a:endParaRPr lang="en-US" dirty="0"/>
          </a:p>
        </p:txBody>
      </p:sp>
      <p:sp>
        <p:nvSpPr>
          <p:cNvPr id="4" name="Content Placeholder 3"/>
          <p:cNvSpPr>
            <a:spLocks noGrp="1"/>
          </p:cNvSpPr>
          <p:nvPr>
            <p:ph idx="14"/>
          </p:nvPr>
        </p:nvSpPr>
        <p:spPr/>
        <p:txBody>
          <a:bodyPr/>
          <a:lstStyle/>
          <a:p>
            <a:r>
              <a:rPr lang="ru-RU" dirty="0" err="1" smtClean="0"/>
              <a:t>Р.Эрдэнэтулга</a:t>
            </a:r>
            <a:endParaRPr lang="en-US" dirty="0" smtClean="0"/>
          </a:p>
          <a:p>
            <a:r>
              <a:rPr lang="en-US" dirty="0" smtClean="0"/>
              <a:t>Brown University 2015</a:t>
            </a:r>
          </a:p>
          <a:p>
            <a:r>
              <a:rPr lang="en-US" dirty="0" smtClean="0"/>
              <a:t>United World College of the Atlantic 2011</a:t>
            </a:r>
          </a:p>
          <a:p>
            <a:r>
              <a:rPr lang="en-US" dirty="0" err="1"/>
              <a:t>Сант</a:t>
            </a:r>
            <a:r>
              <a:rPr lang="en-US" dirty="0"/>
              <a:t> </a:t>
            </a:r>
            <a:r>
              <a:rPr lang="en-US" dirty="0" err="1"/>
              <a:t>дунд</a:t>
            </a:r>
            <a:r>
              <a:rPr lang="en-US" dirty="0"/>
              <a:t> </a:t>
            </a:r>
            <a:r>
              <a:rPr lang="en-US" dirty="0" err="1" smtClean="0"/>
              <a:t>сургууль</a:t>
            </a:r>
            <a:r>
              <a:rPr lang="en-US" dirty="0" smtClean="0"/>
              <a:t> 2009 </a:t>
            </a:r>
            <a:endParaRPr lang="en-US" dirty="0"/>
          </a:p>
          <a:p>
            <a:endParaRPr lang="en-US" dirty="0" smtClean="0"/>
          </a:p>
          <a:p>
            <a:endParaRPr lang="en-US" dirty="0" smtClean="0"/>
          </a:p>
          <a:p>
            <a:endParaRPr lang="en-US" dirty="0"/>
          </a:p>
        </p:txBody>
      </p:sp>
      <p:pic>
        <p:nvPicPr>
          <p:cNvPr id="5" name="Picture 4"/>
          <p:cNvPicPr>
            <a:picLocks noChangeAspect="1"/>
          </p:cNvPicPr>
          <p:nvPr/>
        </p:nvPicPr>
        <p:blipFill>
          <a:blip r:embed="rId2"/>
          <a:stretch>
            <a:fillRect/>
          </a:stretch>
        </p:blipFill>
        <p:spPr>
          <a:xfrm>
            <a:off x="7010400" y="3888085"/>
            <a:ext cx="1295400" cy="2215134"/>
          </a:xfrm>
          <a:prstGeom prst="rect">
            <a:avLst/>
          </a:prstGeom>
        </p:spPr>
      </p:pic>
      <p:pic>
        <p:nvPicPr>
          <p:cNvPr id="6" name="Picture 5"/>
          <p:cNvPicPr>
            <a:picLocks noChangeAspect="1"/>
          </p:cNvPicPr>
          <p:nvPr/>
        </p:nvPicPr>
        <p:blipFill>
          <a:blip r:embed="rId3"/>
          <a:stretch>
            <a:fillRect/>
          </a:stretch>
        </p:blipFill>
        <p:spPr>
          <a:xfrm>
            <a:off x="762000" y="4688840"/>
            <a:ext cx="6096000" cy="1414379"/>
          </a:xfrm>
          <a:prstGeom prst="rect">
            <a:avLst/>
          </a:prstGeom>
        </p:spPr>
      </p:pic>
    </p:spTree>
    <p:extLst>
      <p:ext uri="{BB962C8B-B14F-4D97-AF65-F5344CB8AC3E}">
        <p14:creationId xmlns:p14="http://schemas.microsoft.com/office/powerpoint/2010/main" val="25784903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4094"/>
            <a:ext cx="7772400" cy="1605706"/>
          </a:xfrm>
        </p:spPr>
        <p:txBody>
          <a:bodyPr/>
          <a:lstStyle/>
          <a:p>
            <a:r>
              <a:rPr lang="en-US" dirty="0" smtClean="0"/>
              <a:t>US                       UK                              </a:t>
            </a:r>
            <a:r>
              <a:rPr lang="en-US" baseline="0" dirty="0" smtClean="0"/>
              <a:t>      </a:t>
            </a:r>
            <a:endParaRPr lang="en-US" dirty="0"/>
          </a:p>
        </p:txBody>
      </p:sp>
      <p:pic>
        <p:nvPicPr>
          <p:cNvPr id="4" name="Picture 3"/>
          <p:cNvPicPr>
            <a:picLocks noChangeAspect="1"/>
          </p:cNvPicPr>
          <p:nvPr/>
        </p:nvPicPr>
        <p:blipFill>
          <a:blip r:embed="rId2"/>
          <a:stretch>
            <a:fillRect/>
          </a:stretch>
        </p:blipFill>
        <p:spPr>
          <a:xfrm>
            <a:off x="685800" y="3276600"/>
            <a:ext cx="3289300" cy="2476500"/>
          </a:xfrm>
          <a:prstGeom prst="rect">
            <a:avLst/>
          </a:prstGeom>
        </p:spPr>
      </p:pic>
      <p:pic>
        <p:nvPicPr>
          <p:cNvPr id="5" name="Picture 4" descr="UK.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0" y="3236494"/>
            <a:ext cx="1828800" cy="2630905"/>
          </a:xfrm>
          <a:prstGeom prst="rect">
            <a:avLst/>
          </a:prstGeom>
        </p:spPr>
      </p:pic>
    </p:spTree>
    <p:extLst>
      <p:ext uri="{BB962C8B-B14F-4D97-AF65-F5344CB8AC3E}">
        <p14:creationId xmlns:p14="http://schemas.microsoft.com/office/powerpoint/2010/main" val="34244834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err="1" smtClean="0"/>
              <a:t>Боловсролын</a:t>
            </a:r>
            <a:r>
              <a:rPr lang="ru-RU" dirty="0" smtClean="0"/>
              <a:t> </a:t>
            </a:r>
            <a:r>
              <a:rPr lang="ru-RU" dirty="0" err="1" smtClean="0"/>
              <a:t>хувьд</a:t>
            </a:r>
            <a:endParaRPr lang="en-US" dirty="0"/>
          </a:p>
        </p:txBody>
      </p:sp>
      <p:sp>
        <p:nvSpPr>
          <p:cNvPr id="3" name="Content Placeholder 2"/>
          <p:cNvSpPr>
            <a:spLocks noGrp="1"/>
          </p:cNvSpPr>
          <p:nvPr>
            <p:ph idx="1"/>
          </p:nvPr>
        </p:nvSpPr>
        <p:spPr/>
        <p:txBody>
          <a:bodyPr/>
          <a:lstStyle/>
          <a:p>
            <a:pPr marL="0" indent="0">
              <a:buNone/>
            </a:pPr>
            <a:r>
              <a:rPr lang="en-US" dirty="0" smtClean="0"/>
              <a:t>US</a:t>
            </a:r>
            <a:r>
              <a:rPr lang="en-US" baseline="0" dirty="0" smtClean="0"/>
              <a:t> (</a:t>
            </a:r>
            <a:r>
              <a:rPr lang="en-US" baseline="0" dirty="0" err="1" smtClean="0"/>
              <a:t>уян</a:t>
            </a:r>
            <a:r>
              <a:rPr lang="en-US" baseline="0" dirty="0" smtClean="0"/>
              <a:t> </a:t>
            </a:r>
            <a:r>
              <a:rPr lang="en-US" baseline="0" dirty="0" err="1" smtClean="0"/>
              <a:t>хатан</a:t>
            </a:r>
            <a:r>
              <a:rPr lang="en-US" baseline="0" dirty="0" smtClean="0"/>
              <a:t>)</a:t>
            </a:r>
          </a:p>
          <a:p>
            <a:pPr lvl="1"/>
            <a:r>
              <a:rPr lang="ru-RU" dirty="0" err="1" smtClean="0"/>
              <a:t>Мэргэжлээ</a:t>
            </a:r>
            <a:r>
              <a:rPr lang="ru-RU" dirty="0" smtClean="0"/>
              <a:t> </a:t>
            </a:r>
            <a:r>
              <a:rPr lang="ru-RU" dirty="0" err="1" smtClean="0"/>
              <a:t>солиж</a:t>
            </a:r>
            <a:r>
              <a:rPr lang="ru-RU" dirty="0" smtClean="0"/>
              <a:t> </a:t>
            </a:r>
            <a:r>
              <a:rPr lang="ru-RU" dirty="0" err="1" smtClean="0"/>
              <a:t>болно</a:t>
            </a:r>
            <a:endParaRPr lang="en-US" dirty="0" smtClean="0"/>
          </a:p>
          <a:p>
            <a:pPr lvl="1"/>
            <a:r>
              <a:rPr lang="ru-RU" baseline="0" dirty="0" err="1" smtClean="0"/>
              <a:t>Сонгосон</a:t>
            </a:r>
            <a:r>
              <a:rPr lang="ru-RU" baseline="0" dirty="0" smtClean="0"/>
              <a:t> </a:t>
            </a:r>
            <a:r>
              <a:rPr lang="ru-RU" baseline="0" dirty="0" err="1" smtClean="0"/>
              <a:t>мэргэжлээс</a:t>
            </a:r>
            <a:r>
              <a:rPr lang="ru-RU" baseline="0" dirty="0" smtClean="0"/>
              <a:t> </a:t>
            </a:r>
            <a:r>
              <a:rPr lang="ru-RU" baseline="0" dirty="0" err="1" smtClean="0"/>
              <a:t>өөр</a:t>
            </a:r>
            <a:r>
              <a:rPr lang="ru-RU" baseline="0" dirty="0" smtClean="0"/>
              <a:t> </a:t>
            </a:r>
            <a:endParaRPr lang="en-US" baseline="0" dirty="0" smtClean="0"/>
          </a:p>
          <a:p>
            <a:pPr marL="457200" lvl="1" indent="0">
              <a:buNone/>
            </a:pPr>
            <a:r>
              <a:rPr lang="ru-RU" baseline="0" dirty="0" smtClean="0"/>
              <a:t>курс </a:t>
            </a:r>
            <a:r>
              <a:rPr lang="ru-RU" baseline="0" dirty="0" err="1" smtClean="0"/>
              <a:t>авч</a:t>
            </a:r>
            <a:r>
              <a:rPr lang="ru-RU" baseline="0" dirty="0" smtClean="0"/>
              <a:t> </a:t>
            </a:r>
            <a:r>
              <a:rPr lang="ru-RU" baseline="0" dirty="0" err="1" smtClean="0"/>
              <a:t>болно</a:t>
            </a:r>
            <a:endParaRPr lang="en-US" baseline="0" dirty="0" smtClean="0"/>
          </a:p>
          <a:p>
            <a:pPr lvl="1"/>
            <a:r>
              <a:rPr lang="en-US" dirty="0" smtClean="0"/>
              <a:t>4 </a:t>
            </a:r>
            <a:r>
              <a:rPr lang="en-US" dirty="0" err="1" smtClean="0"/>
              <a:t>жилийн</a:t>
            </a:r>
            <a:r>
              <a:rPr lang="en-US" dirty="0" smtClean="0"/>
              <a:t> </a:t>
            </a:r>
            <a:r>
              <a:rPr lang="en-US" dirty="0" err="1" smtClean="0"/>
              <a:t>бакалавр</a:t>
            </a:r>
            <a:endParaRPr lang="en-US" dirty="0" smtClean="0"/>
          </a:p>
          <a:p>
            <a:pPr marL="0" indent="0">
              <a:buNone/>
            </a:pPr>
            <a:r>
              <a:rPr lang="en-US" baseline="0" dirty="0" smtClean="0"/>
              <a:t>UK </a:t>
            </a:r>
          </a:p>
          <a:p>
            <a:pPr lvl="1"/>
            <a:r>
              <a:rPr lang="ru-RU" baseline="0" dirty="0" err="1" smtClean="0"/>
              <a:t>сонгосон</a:t>
            </a:r>
            <a:r>
              <a:rPr lang="ru-RU" baseline="0" dirty="0" smtClean="0"/>
              <a:t> </a:t>
            </a:r>
            <a:r>
              <a:rPr lang="ru-RU" baseline="0" dirty="0" err="1" smtClean="0"/>
              <a:t>мэргэжлээрээ</a:t>
            </a:r>
            <a:r>
              <a:rPr lang="ru-RU" baseline="0" dirty="0" smtClean="0"/>
              <a:t> л </a:t>
            </a:r>
            <a:r>
              <a:rPr lang="ru-RU" baseline="0" dirty="0" err="1" smtClean="0"/>
              <a:t>суралцана</a:t>
            </a:r>
            <a:endParaRPr lang="en-US" baseline="0" dirty="0" smtClean="0"/>
          </a:p>
          <a:p>
            <a:pPr lvl="1"/>
            <a:r>
              <a:rPr lang="en-US" dirty="0" smtClean="0"/>
              <a:t>3 </a:t>
            </a:r>
            <a:r>
              <a:rPr lang="en-US" dirty="0" err="1" smtClean="0"/>
              <a:t>жилийн</a:t>
            </a:r>
            <a:r>
              <a:rPr lang="en-US" dirty="0" smtClean="0"/>
              <a:t> </a:t>
            </a:r>
            <a:r>
              <a:rPr lang="en-US" dirty="0" err="1" smtClean="0"/>
              <a:t>бакалавр</a:t>
            </a:r>
            <a:endParaRPr lang="en-US" dirty="0" smtClean="0"/>
          </a:p>
        </p:txBody>
      </p:sp>
      <p:pic>
        <p:nvPicPr>
          <p:cNvPr id="4" name="Picture 3"/>
          <p:cNvPicPr>
            <a:picLocks noChangeAspect="1"/>
          </p:cNvPicPr>
          <p:nvPr/>
        </p:nvPicPr>
        <p:blipFill>
          <a:blip r:embed="rId2"/>
          <a:stretch>
            <a:fillRect/>
          </a:stretch>
        </p:blipFill>
        <p:spPr>
          <a:xfrm>
            <a:off x="5334000" y="762000"/>
            <a:ext cx="3022600" cy="2692400"/>
          </a:xfrm>
          <a:prstGeom prst="rect">
            <a:avLst/>
          </a:prstGeom>
        </p:spPr>
      </p:pic>
    </p:spTree>
    <p:extLst>
      <p:ext uri="{BB962C8B-B14F-4D97-AF65-F5344CB8AC3E}">
        <p14:creationId xmlns:p14="http://schemas.microsoft.com/office/powerpoint/2010/main" val="22344217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Apply</a:t>
            </a:r>
            <a:r>
              <a:rPr lang="en-US" baseline="0" dirty="0" smtClean="0"/>
              <a:t> </a:t>
            </a:r>
            <a:r>
              <a:rPr lang="ru-RU" baseline="0" dirty="0" smtClean="0"/>
              <a:t>хийх </a:t>
            </a:r>
            <a:r>
              <a:rPr lang="ru-RU" baseline="0" dirty="0" smtClean="0"/>
              <a:t>проц</a:t>
            </a:r>
            <a:r>
              <a:rPr lang="mn-MN" dirty="0" smtClean="0"/>
              <a:t>е</a:t>
            </a:r>
            <a:r>
              <a:rPr lang="ru-RU" baseline="0" dirty="0" smtClean="0"/>
              <a:t>сс</a:t>
            </a:r>
            <a:endParaRPr lang="ru-RU" baseline="0" dirty="0" smtClean="0"/>
          </a:p>
        </p:txBody>
      </p:sp>
      <p:sp>
        <p:nvSpPr>
          <p:cNvPr id="3" name="Content Placeholder 2"/>
          <p:cNvSpPr>
            <a:spLocks noGrp="1"/>
          </p:cNvSpPr>
          <p:nvPr>
            <p:ph idx="1"/>
          </p:nvPr>
        </p:nvSpPr>
        <p:spPr>
          <a:xfrm>
            <a:off x="762000" y="685800"/>
            <a:ext cx="7543800" cy="2209800"/>
          </a:xfrm>
        </p:spPr>
        <p:txBody>
          <a:bodyPr/>
          <a:lstStyle/>
          <a:p>
            <a:pPr rtl="0" eaLnBrk="1" latinLnBrk="0" hangingPunct="1"/>
            <a:r>
              <a:rPr lang="en-US" sz="3200" kern="1200" dirty="0" smtClean="0">
                <a:solidFill>
                  <a:schemeClr val="tx1"/>
                </a:solidFill>
                <a:effectLst/>
                <a:latin typeface="+mn-lt"/>
                <a:ea typeface="+mn-ea"/>
                <a:cs typeface="+mn-cs"/>
              </a:rPr>
              <a:t>US (SAT 1,</a:t>
            </a:r>
            <a:r>
              <a:rPr lang="en-US" sz="3200" kern="1200" baseline="0" dirty="0" smtClean="0">
                <a:solidFill>
                  <a:schemeClr val="tx1"/>
                </a:solidFill>
                <a:effectLst/>
                <a:latin typeface="+mn-lt"/>
                <a:ea typeface="+mn-ea"/>
                <a:cs typeface="+mn-cs"/>
              </a:rPr>
              <a:t> SAT 2, TOEFL, AP or IB)</a:t>
            </a:r>
            <a:endParaRPr lang="en-US" sz="3200" dirty="0" smtClean="0">
              <a:effectLst/>
            </a:endParaRPr>
          </a:p>
          <a:p>
            <a:pPr rtl="0" eaLnBrk="1" latinLnBrk="0" hangingPunct="1"/>
            <a:r>
              <a:rPr lang="en-US" sz="3200" kern="1200" baseline="0" dirty="0" smtClean="0">
                <a:solidFill>
                  <a:schemeClr val="tx1"/>
                </a:solidFill>
                <a:effectLst/>
                <a:latin typeface="+mn-lt"/>
                <a:ea typeface="+mn-ea"/>
                <a:cs typeface="+mn-cs"/>
              </a:rPr>
              <a:t>UK (IB, A levels, IELTS)</a:t>
            </a:r>
            <a:endParaRPr lang="en-US" dirty="0" smtClean="0">
              <a:effectLst/>
            </a:endParaRPr>
          </a:p>
        </p:txBody>
      </p:sp>
      <p:pic>
        <p:nvPicPr>
          <p:cNvPr id="6" name="Picture 5"/>
          <p:cNvPicPr>
            <a:picLocks noChangeAspect="1"/>
          </p:cNvPicPr>
          <p:nvPr/>
        </p:nvPicPr>
        <p:blipFill>
          <a:blip r:embed="rId2"/>
          <a:stretch>
            <a:fillRect/>
          </a:stretch>
        </p:blipFill>
        <p:spPr>
          <a:xfrm>
            <a:off x="3352800" y="2514600"/>
            <a:ext cx="2946400" cy="2755900"/>
          </a:xfrm>
          <a:prstGeom prst="rect">
            <a:avLst/>
          </a:prstGeom>
        </p:spPr>
      </p:pic>
    </p:spTree>
    <p:extLst>
      <p:ext uri="{BB962C8B-B14F-4D97-AF65-F5344CB8AC3E}">
        <p14:creationId xmlns:p14="http://schemas.microsoft.com/office/powerpoint/2010/main" val="5024869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err="1" smtClean="0"/>
              <a:t>Олон</a:t>
            </a:r>
            <a:r>
              <a:rPr lang="ru-RU" dirty="0" smtClean="0"/>
              <a:t> </a:t>
            </a:r>
            <a:r>
              <a:rPr lang="ru-RU" dirty="0" err="1" smtClean="0"/>
              <a:t>улсын</a:t>
            </a:r>
            <a:r>
              <a:rPr lang="ru-RU" dirty="0" smtClean="0"/>
              <a:t> </a:t>
            </a:r>
            <a:r>
              <a:rPr lang="ru-RU" dirty="0" err="1" smtClean="0"/>
              <a:t>оюутан</a:t>
            </a:r>
            <a:r>
              <a:rPr lang="ru-RU" dirty="0" smtClean="0"/>
              <a:t> </a:t>
            </a:r>
            <a:r>
              <a:rPr lang="ru-RU" dirty="0" err="1" smtClean="0"/>
              <a:t>орох</a:t>
            </a:r>
            <a:r>
              <a:rPr lang="ru-RU" dirty="0" smtClean="0"/>
              <a:t> </a:t>
            </a:r>
            <a:r>
              <a:rPr lang="ru-RU" dirty="0" err="1" smtClean="0"/>
              <a:t>боломж</a:t>
            </a:r>
            <a:r>
              <a:rPr lang="ru-RU" dirty="0" smtClean="0"/>
              <a:t>/</a:t>
            </a:r>
            <a:r>
              <a:rPr lang="ru-RU" dirty="0" err="1" smtClean="0"/>
              <a:t>тэтгэлэг</a:t>
            </a:r>
            <a:r>
              <a:rPr lang="ru-RU" dirty="0" smtClean="0"/>
              <a:t> </a:t>
            </a:r>
            <a:r>
              <a:rPr lang="ru-RU" dirty="0" err="1" smtClean="0"/>
              <a:t>хэр</a:t>
            </a:r>
            <a:r>
              <a:rPr lang="ru-RU" dirty="0" smtClean="0"/>
              <a:t> их вэ?</a:t>
            </a:r>
            <a:endParaRPr lang="en-US" dirty="0"/>
          </a:p>
        </p:txBody>
      </p:sp>
      <p:sp>
        <p:nvSpPr>
          <p:cNvPr id="3" name="Content Placeholder 2"/>
          <p:cNvSpPr>
            <a:spLocks noGrp="1"/>
          </p:cNvSpPr>
          <p:nvPr>
            <p:ph idx="1"/>
          </p:nvPr>
        </p:nvSpPr>
        <p:spPr>
          <a:xfrm>
            <a:off x="762000" y="533400"/>
            <a:ext cx="7543800" cy="3429000"/>
          </a:xfrm>
        </p:spPr>
        <p:txBody>
          <a:bodyPr>
            <a:normAutofit/>
          </a:bodyPr>
          <a:lstStyle/>
          <a:p>
            <a:r>
              <a:rPr lang="en-US" dirty="0" smtClean="0"/>
              <a:t>US (</a:t>
            </a:r>
            <a:r>
              <a:rPr lang="ru-RU" dirty="0" err="1" smtClean="0"/>
              <a:t>тухайн</a:t>
            </a:r>
            <a:r>
              <a:rPr lang="ru-RU" dirty="0" smtClean="0"/>
              <a:t> </a:t>
            </a:r>
            <a:r>
              <a:rPr lang="ru-RU" dirty="0" err="1" smtClean="0"/>
              <a:t>сургуулийн</a:t>
            </a:r>
            <a:r>
              <a:rPr lang="ru-RU" dirty="0" smtClean="0"/>
              <a:t> </a:t>
            </a:r>
            <a:r>
              <a:rPr lang="ru-RU" dirty="0" err="1" smtClean="0"/>
              <a:t>нэр</a:t>
            </a:r>
            <a:r>
              <a:rPr lang="ru-RU" dirty="0" smtClean="0"/>
              <a:t> </a:t>
            </a:r>
            <a:r>
              <a:rPr lang="ru-RU" dirty="0" err="1" smtClean="0"/>
              <a:t>хүнд</a:t>
            </a:r>
            <a:r>
              <a:rPr lang="ru-RU" dirty="0" smtClean="0"/>
              <a:t> </a:t>
            </a:r>
            <a:r>
              <a:rPr lang="ru-RU" dirty="0" err="1" smtClean="0"/>
              <a:t>өсөx</a:t>
            </a:r>
            <a:r>
              <a:rPr lang="ru-RU" dirty="0" smtClean="0"/>
              <a:t> </a:t>
            </a:r>
            <a:r>
              <a:rPr lang="ru-RU" dirty="0" err="1" smtClean="0"/>
              <a:t>тусам</a:t>
            </a:r>
            <a:r>
              <a:rPr lang="ru-RU" dirty="0" smtClean="0"/>
              <a:t> </a:t>
            </a:r>
            <a:r>
              <a:rPr lang="ru-RU" dirty="0" err="1" smtClean="0"/>
              <a:t>олон</a:t>
            </a:r>
            <a:r>
              <a:rPr lang="ru-RU" dirty="0" smtClean="0"/>
              <a:t> </a:t>
            </a:r>
            <a:r>
              <a:rPr lang="ru-RU" dirty="0" err="1" smtClean="0"/>
              <a:t>улсын</a:t>
            </a:r>
            <a:r>
              <a:rPr lang="ru-RU" dirty="0" smtClean="0"/>
              <a:t> </a:t>
            </a:r>
            <a:r>
              <a:rPr lang="ru-RU" dirty="0" err="1" smtClean="0"/>
              <a:t>оюутнийг</a:t>
            </a:r>
            <a:r>
              <a:rPr lang="ru-RU" dirty="0" smtClean="0"/>
              <a:t> </a:t>
            </a:r>
            <a:r>
              <a:rPr lang="ru-RU" dirty="0" err="1" smtClean="0"/>
              <a:t>авах</a:t>
            </a:r>
            <a:r>
              <a:rPr lang="ru-RU" dirty="0" smtClean="0"/>
              <a:t> </a:t>
            </a:r>
            <a:r>
              <a:rPr lang="ru-RU" dirty="0" err="1" smtClean="0"/>
              <a:t>хүсэл</a:t>
            </a:r>
            <a:r>
              <a:rPr lang="ru-RU" dirty="0" smtClean="0"/>
              <a:t> </a:t>
            </a:r>
            <a:r>
              <a:rPr lang="ru-RU" dirty="0" err="1" smtClean="0"/>
              <a:t>ихэсдэг</a:t>
            </a:r>
            <a:r>
              <a:rPr lang="ru-RU" dirty="0" smtClean="0"/>
              <a:t>. </a:t>
            </a:r>
            <a:r>
              <a:rPr lang="ru-RU" dirty="0" err="1" smtClean="0"/>
              <a:t>Мөн</a:t>
            </a:r>
            <a:r>
              <a:rPr lang="ru-RU" dirty="0" smtClean="0"/>
              <a:t> </a:t>
            </a:r>
            <a:r>
              <a:rPr lang="en-US" dirty="0" smtClean="0"/>
              <a:t>need-blind, need-based</a:t>
            </a:r>
            <a:r>
              <a:rPr lang="ru-RU" dirty="0" smtClean="0"/>
              <a:t> </a:t>
            </a:r>
            <a:r>
              <a:rPr lang="ru-RU" dirty="0" err="1" smtClean="0"/>
              <a:t>тэгтгэлэг</a:t>
            </a:r>
            <a:r>
              <a:rPr lang="ru-RU" dirty="0" smtClean="0"/>
              <a:t> </a:t>
            </a:r>
            <a:r>
              <a:rPr lang="ru-RU" dirty="0" err="1" smtClean="0"/>
              <a:t>олгодог</a:t>
            </a:r>
            <a:r>
              <a:rPr lang="en-US" dirty="0"/>
              <a:t>)</a:t>
            </a:r>
            <a:endParaRPr lang="en-US" baseline="0" dirty="0" smtClean="0"/>
          </a:p>
          <a:p>
            <a:r>
              <a:rPr lang="en-US" baseline="0" dirty="0" smtClean="0"/>
              <a:t>UK (</a:t>
            </a:r>
            <a:r>
              <a:rPr lang="ru-RU" baseline="0" dirty="0" err="1" smtClean="0"/>
              <a:t>сурагчийг</a:t>
            </a:r>
            <a:r>
              <a:rPr lang="ru-RU" baseline="0" dirty="0" smtClean="0"/>
              <a:t> </a:t>
            </a:r>
            <a:r>
              <a:rPr lang="ru-RU" baseline="0" dirty="0" err="1" smtClean="0"/>
              <a:t>авах</a:t>
            </a:r>
            <a:r>
              <a:rPr lang="ru-RU" baseline="0" dirty="0" smtClean="0"/>
              <a:t> </a:t>
            </a:r>
            <a:r>
              <a:rPr lang="ru-RU" baseline="0" dirty="0" err="1" smtClean="0"/>
              <a:t>процэсс-нь</a:t>
            </a:r>
            <a:r>
              <a:rPr lang="ru-RU" baseline="0" dirty="0" smtClean="0"/>
              <a:t> </a:t>
            </a:r>
            <a:r>
              <a:rPr lang="ru-RU" baseline="0" dirty="0" err="1" smtClean="0"/>
              <a:t>дараах</a:t>
            </a:r>
            <a:r>
              <a:rPr lang="ru-RU" baseline="0" dirty="0" smtClean="0"/>
              <a:t> </a:t>
            </a:r>
            <a:r>
              <a:rPr lang="ru-RU" baseline="0" dirty="0" err="1" smtClean="0"/>
              <a:t>байдлаар</a:t>
            </a:r>
            <a:r>
              <a:rPr lang="ru-RU" baseline="0" dirty="0" smtClean="0"/>
              <a:t> </a:t>
            </a:r>
            <a:r>
              <a:rPr lang="ru-RU" baseline="0" dirty="0" err="1" smtClean="0"/>
              <a:t>шигшигдэнэ</a:t>
            </a:r>
            <a:r>
              <a:rPr lang="en-US" baseline="0" dirty="0" smtClean="0"/>
              <a:t>)</a:t>
            </a:r>
          </a:p>
          <a:p>
            <a:pPr lvl="1"/>
            <a:r>
              <a:rPr lang="bg-BG" baseline="0" dirty="0" smtClean="0"/>
              <a:t>англи сурагч – </a:t>
            </a:r>
            <a:r>
              <a:rPr lang="en-US" baseline="0" dirty="0" smtClean="0"/>
              <a:t>Europe</a:t>
            </a:r>
            <a:r>
              <a:rPr lang="en-US" dirty="0"/>
              <a:t>-</a:t>
            </a:r>
            <a:r>
              <a:rPr lang="bg-BG" baseline="0" dirty="0" smtClean="0"/>
              <a:t>ийн холбооний сурагч - олон улсийн сурагч</a:t>
            </a:r>
            <a:endParaRPr lang="en-US" baseline="0" dirty="0" smtClean="0"/>
          </a:p>
          <a:p>
            <a:pPr lvl="1"/>
            <a:r>
              <a:rPr lang="ru-RU" dirty="0" err="1" smtClean="0"/>
              <a:t>тэтгэлэг</a:t>
            </a:r>
            <a:r>
              <a:rPr lang="ru-RU" dirty="0" smtClean="0"/>
              <a:t> </a:t>
            </a:r>
            <a:r>
              <a:rPr lang="ru-RU" dirty="0" err="1" smtClean="0"/>
              <a:t>олон</a:t>
            </a:r>
            <a:r>
              <a:rPr lang="ru-RU" dirty="0" smtClean="0"/>
              <a:t> </a:t>
            </a:r>
            <a:r>
              <a:rPr lang="ru-RU" dirty="0" err="1" smtClean="0"/>
              <a:t>улсын</a:t>
            </a:r>
            <a:r>
              <a:rPr lang="ru-RU" dirty="0" smtClean="0"/>
              <a:t> </a:t>
            </a:r>
            <a:r>
              <a:rPr lang="ru-RU" dirty="0" err="1" smtClean="0"/>
              <a:t>сурагчид</a:t>
            </a:r>
            <a:r>
              <a:rPr lang="ru-RU" dirty="0" smtClean="0"/>
              <a:t> </a:t>
            </a:r>
            <a:r>
              <a:rPr lang="ru-RU" dirty="0" err="1" smtClean="0"/>
              <a:t>өгөх</a:t>
            </a:r>
            <a:r>
              <a:rPr lang="ru-RU" dirty="0" smtClean="0"/>
              <a:t> </a:t>
            </a:r>
            <a:r>
              <a:rPr lang="ru-RU" dirty="0" err="1" smtClean="0"/>
              <a:t>боломж</a:t>
            </a:r>
            <a:r>
              <a:rPr lang="ru-RU" dirty="0" smtClean="0"/>
              <a:t> </a:t>
            </a:r>
            <a:r>
              <a:rPr lang="ru-RU" dirty="0" err="1" smtClean="0"/>
              <a:t>маш</a:t>
            </a:r>
            <a:r>
              <a:rPr lang="ru-RU" dirty="0" smtClean="0"/>
              <a:t> бага</a:t>
            </a:r>
            <a:endParaRPr lang="en-US" dirty="0" smtClean="0"/>
          </a:p>
        </p:txBody>
      </p:sp>
    </p:spTree>
    <p:extLst>
      <p:ext uri="{BB962C8B-B14F-4D97-AF65-F5344CB8AC3E}">
        <p14:creationId xmlns:p14="http://schemas.microsoft.com/office/powerpoint/2010/main" val="35285927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7543800" cy="1600200"/>
          </a:xfrm>
        </p:spPr>
        <p:txBody>
          <a:bodyPr>
            <a:normAutofit fontScale="90000"/>
          </a:bodyPr>
          <a:lstStyle/>
          <a:p>
            <a:r>
              <a:rPr lang="mn-MN" dirty="0" smtClean="0"/>
              <a:t>Харилцааны у</a:t>
            </a:r>
            <a:r>
              <a:rPr lang="ru-RU" dirty="0" smtClean="0"/>
              <a:t>ур </a:t>
            </a:r>
            <a:r>
              <a:rPr lang="ru-RU" dirty="0" smtClean="0"/>
              <a:t>амьсгал</a:t>
            </a:r>
            <a:endParaRPr lang="en-US" dirty="0"/>
          </a:p>
        </p:txBody>
      </p:sp>
      <p:sp>
        <p:nvSpPr>
          <p:cNvPr id="3" name="Content Placeholder 2"/>
          <p:cNvSpPr>
            <a:spLocks noGrp="1"/>
          </p:cNvSpPr>
          <p:nvPr>
            <p:ph idx="1"/>
          </p:nvPr>
        </p:nvSpPr>
        <p:spPr>
          <a:xfrm>
            <a:off x="762000" y="685800"/>
            <a:ext cx="7543800" cy="4343400"/>
          </a:xfrm>
        </p:spPr>
        <p:txBody>
          <a:bodyPr>
            <a:normAutofit fontScale="92500" lnSpcReduction="10000"/>
          </a:bodyPr>
          <a:lstStyle/>
          <a:p>
            <a:pPr marL="0" lvl="0" indent="0">
              <a:buNone/>
            </a:pPr>
            <a:r>
              <a:rPr lang="en-US" baseline="0" dirty="0" smtClean="0"/>
              <a:t>US </a:t>
            </a:r>
          </a:p>
          <a:p>
            <a:pPr lvl="1"/>
            <a:r>
              <a:rPr lang="ru-RU" baseline="0" dirty="0" err="1" smtClean="0"/>
              <a:t>Олон</a:t>
            </a:r>
            <a:r>
              <a:rPr lang="ru-RU" baseline="0" dirty="0" smtClean="0"/>
              <a:t> </a:t>
            </a:r>
            <a:r>
              <a:rPr lang="ru-RU" baseline="0" dirty="0" err="1" smtClean="0"/>
              <a:t>улсын</a:t>
            </a:r>
            <a:r>
              <a:rPr lang="ru-RU" baseline="0" dirty="0" smtClean="0"/>
              <a:t> </a:t>
            </a:r>
            <a:r>
              <a:rPr lang="ru-RU" baseline="0" dirty="0" err="1" smtClean="0"/>
              <a:t>сурагчид</a:t>
            </a:r>
            <a:endParaRPr lang="en-US" baseline="0" dirty="0" smtClean="0"/>
          </a:p>
          <a:p>
            <a:pPr marL="457200" lvl="1" indent="0">
              <a:buNone/>
            </a:pPr>
            <a:r>
              <a:rPr lang="ru-RU" baseline="0" dirty="0" smtClean="0"/>
              <a:t> болон </a:t>
            </a:r>
            <a:r>
              <a:rPr lang="ru-RU" baseline="0" dirty="0" err="1" smtClean="0"/>
              <a:t>Ази</a:t>
            </a:r>
            <a:r>
              <a:rPr lang="ru-RU" baseline="0" dirty="0" smtClean="0"/>
              <a:t> </a:t>
            </a:r>
            <a:r>
              <a:rPr lang="ru-RU" baseline="0" dirty="0" err="1" smtClean="0"/>
              <a:t>сурагчид-ийн</a:t>
            </a:r>
            <a:endParaRPr lang="en-US" baseline="0" dirty="0" smtClean="0"/>
          </a:p>
          <a:p>
            <a:pPr marL="457200" lvl="1" indent="0">
              <a:buNone/>
            </a:pPr>
            <a:r>
              <a:rPr lang="ru-RU" baseline="0" dirty="0" smtClean="0"/>
              <a:t> </a:t>
            </a:r>
            <a:r>
              <a:rPr lang="ru-RU" baseline="0" dirty="0" err="1" smtClean="0"/>
              <a:t>эзлэх</a:t>
            </a:r>
            <a:r>
              <a:rPr lang="ru-RU" baseline="0" dirty="0" smtClean="0"/>
              <a:t> </a:t>
            </a:r>
            <a:r>
              <a:rPr lang="ru-RU" baseline="0" dirty="0" err="1" smtClean="0"/>
              <a:t>хувь</a:t>
            </a:r>
            <a:r>
              <a:rPr lang="ru-RU" baseline="0" dirty="0" smtClean="0"/>
              <a:t> </a:t>
            </a:r>
            <a:r>
              <a:rPr lang="ru-RU" baseline="0" dirty="0" err="1" smtClean="0"/>
              <a:t>харьцангуй</a:t>
            </a:r>
            <a:endParaRPr lang="en-US" baseline="0" dirty="0" smtClean="0"/>
          </a:p>
          <a:p>
            <a:pPr marL="457200" lvl="1" indent="0">
              <a:buNone/>
            </a:pPr>
            <a:r>
              <a:rPr lang="ru-RU" baseline="0" dirty="0" smtClean="0"/>
              <a:t> их</a:t>
            </a:r>
            <a:endParaRPr lang="en-US" baseline="0" dirty="0" smtClean="0"/>
          </a:p>
          <a:p>
            <a:pPr lvl="1"/>
            <a:r>
              <a:rPr lang="ru-RU" baseline="0" dirty="0" smtClean="0"/>
              <a:t>Монгол </a:t>
            </a:r>
            <a:r>
              <a:rPr lang="ru-RU" baseline="0" dirty="0" err="1" smtClean="0"/>
              <a:t>оюутан</a:t>
            </a:r>
            <a:r>
              <a:rPr lang="ru-RU" baseline="0" dirty="0" smtClean="0"/>
              <a:t> </a:t>
            </a:r>
            <a:r>
              <a:rPr lang="ru-RU" baseline="0" dirty="0" err="1" smtClean="0"/>
              <a:t>сурагчдийн</a:t>
            </a:r>
            <a:r>
              <a:rPr lang="ru-RU" baseline="0" dirty="0" smtClean="0"/>
              <a:t> </a:t>
            </a:r>
            <a:r>
              <a:rPr lang="ru-RU" baseline="0" dirty="0" err="1" smtClean="0"/>
              <a:t>холбоотой</a:t>
            </a:r>
            <a:r>
              <a:rPr lang="ru-RU" baseline="0" dirty="0" smtClean="0"/>
              <a:t> (АМОX)</a:t>
            </a:r>
            <a:endParaRPr lang="en-US" baseline="0" dirty="0" smtClean="0"/>
          </a:p>
          <a:p>
            <a:pPr lvl="1"/>
            <a:r>
              <a:rPr lang="uk-UA" baseline="0" dirty="0" smtClean="0"/>
              <a:t>Ялгаварлан үзэх хандлага маш </a:t>
            </a:r>
            <a:r>
              <a:rPr lang="uk-UA" baseline="0" dirty="0" smtClean="0"/>
              <a:t>бага</a:t>
            </a:r>
            <a:endParaRPr lang="mn-MN" baseline="0" dirty="0" smtClean="0"/>
          </a:p>
          <a:p>
            <a:pPr lvl="1"/>
            <a:endParaRPr lang="en-US" baseline="0" dirty="0" smtClean="0"/>
          </a:p>
          <a:p>
            <a:pPr marL="0" indent="0">
              <a:buNone/>
            </a:pPr>
            <a:r>
              <a:rPr lang="en-US" baseline="0" dirty="0" smtClean="0"/>
              <a:t>UK </a:t>
            </a:r>
          </a:p>
          <a:p>
            <a:pPr lvl="1"/>
            <a:r>
              <a:rPr lang="ru-RU" baseline="0" dirty="0" err="1" smtClean="0"/>
              <a:t>Олон</a:t>
            </a:r>
            <a:r>
              <a:rPr lang="ru-RU" baseline="0" dirty="0" smtClean="0"/>
              <a:t> </a:t>
            </a:r>
            <a:r>
              <a:rPr lang="ru-RU" baseline="0" dirty="0" err="1" smtClean="0"/>
              <a:t>улсын</a:t>
            </a:r>
            <a:r>
              <a:rPr lang="ru-RU" baseline="0" dirty="0" smtClean="0"/>
              <a:t> </a:t>
            </a:r>
            <a:r>
              <a:rPr lang="ru-RU" baseline="0" dirty="0" err="1" smtClean="0"/>
              <a:t>сурагч</a:t>
            </a:r>
            <a:r>
              <a:rPr lang="ru-RU" baseline="0" dirty="0" smtClean="0"/>
              <a:t> </a:t>
            </a:r>
            <a:r>
              <a:rPr lang="ru-RU" baseline="0" dirty="0" err="1" smtClean="0"/>
              <a:t>харьцангуй</a:t>
            </a:r>
            <a:r>
              <a:rPr lang="ru-RU" baseline="0" dirty="0" smtClean="0"/>
              <a:t> бага</a:t>
            </a:r>
            <a:endParaRPr lang="en-US" baseline="0" dirty="0" smtClean="0"/>
          </a:p>
          <a:p>
            <a:pPr lvl="1"/>
            <a:r>
              <a:rPr lang="ru-RU" baseline="0" dirty="0" smtClean="0"/>
              <a:t>Монгол </a:t>
            </a:r>
            <a:r>
              <a:rPr lang="ru-RU" baseline="0" dirty="0" err="1" smtClean="0"/>
              <a:t>сурагчид</a:t>
            </a:r>
            <a:r>
              <a:rPr lang="ru-RU" baseline="0" dirty="0" smtClean="0"/>
              <a:t> </a:t>
            </a:r>
            <a:r>
              <a:rPr lang="ru-RU" baseline="0" dirty="0" err="1" smtClean="0"/>
              <a:t>харьцангуй</a:t>
            </a:r>
            <a:r>
              <a:rPr lang="ru-RU" baseline="0" dirty="0" smtClean="0"/>
              <a:t> бага</a:t>
            </a:r>
            <a:endParaRPr lang="en-US" baseline="0" dirty="0" smtClean="0"/>
          </a:p>
          <a:p>
            <a:pPr lvl="1"/>
            <a:r>
              <a:rPr lang="ru-RU" baseline="0" dirty="0" err="1" smtClean="0"/>
              <a:t>Ялгаварлан</a:t>
            </a:r>
            <a:r>
              <a:rPr lang="ru-RU" baseline="0" dirty="0" smtClean="0"/>
              <a:t> </a:t>
            </a:r>
            <a:r>
              <a:rPr lang="ru-RU" baseline="0" dirty="0" err="1" smtClean="0"/>
              <a:t>үзэх</a:t>
            </a:r>
            <a:r>
              <a:rPr lang="ru-RU" baseline="0" dirty="0" smtClean="0"/>
              <a:t> </a:t>
            </a:r>
            <a:r>
              <a:rPr lang="ru-RU" baseline="0" dirty="0" err="1" smtClean="0"/>
              <a:t>хандлага</a:t>
            </a:r>
            <a:r>
              <a:rPr lang="ru-RU" baseline="0" dirty="0" smtClean="0"/>
              <a:t> бага </a:t>
            </a:r>
            <a:r>
              <a:rPr lang="ru-RU" baseline="0" dirty="0" err="1" smtClean="0"/>
              <a:t>зэрэг</a:t>
            </a:r>
            <a:r>
              <a:rPr lang="ru-RU" baseline="0" dirty="0" smtClean="0"/>
              <a:t> </a:t>
            </a:r>
            <a:r>
              <a:rPr lang="ru-RU" baseline="0" dirty="0" err="1" smtClean="0"/>
              <a:t>ажиглагддаг</a:t>
            </a:r>
            <a:endParaRPr lang="en-US" baseline="0" dirty="0" smtClean="0"/>
          </a:p>
        </p:txBody>
      </p:sp>
      <p:pic>
        <p:nvPicPr>
          <p:cNvPr id="4" name="Picture 3"/>
          <p:cNvPicPr>
            <a:picLocks noChangeAspect="1"/>
          </p:cNvPicPr>
          <p:nvPr/>
        </p:nvPicPr>
        <p:blipFill>
          <a:blip r:embed="rId2"/>
          <a:stretch>
            <a:fillRect/>
          </a:stretch>
        </p:blipFill>
        <p:spPr>
          <a:xfrm>
            <a:off x="4724400" y="304800"/>
            <a:ext cx="3680712" cy="2144959"/>
          </a:xfrm>
          <a:prstGeom prst="rect">
            <a:avLst/>
          </a:prstGeom>
        </p:spPr>
      </p:pic>
    </p:spTree>
    <p:extLst>
      <p:ext uri="{BB962C8B-B14F-4D97-AF65-F5344CB8AC3E}">
        <p14:creationId xmlns:p14="http://schemas.microsoft.com/office/powerpoint/2010/main" val="32548744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ru-RU" baseline="0" dirty="0" err="1" smtClean="0"/>
              <a:t>Америкийн</a:t>
            </a:r>
            <a:r>
              <a:rPr lang="ru-RU" baseline="0" dirty="0" smtClean="0"/>
              <a:t> </a:t>
            </a:r>
            <a:r>
              <a:rPr lang="ru-RU" baseline="0" dirty="0" err="1" smtClean="0"/>
              <a:t>давуу</a:t>
            </a:r>
            <a:r>
              <a:rPr lang="ru-RU" baseline="0" dirty="0" smtClean="0"/>
              <a:t> тал </a:t>
            </a:r>
            <a:r>
              <a:rPr lang="ru-RU" baseline="0" dirty="0" err="1" smtClean="0"/>
              <a:t>нь</a:t>
            </a:r>
            <a:r>
              <a:rPr lang="ru-RU" baseline="0" dirty="0" smtClean="0"/>
              <a:t> </a:t>
            </a:r>
            <a:r>
              <a:rPr lang="ru-RU" baseline="0" dirty="0" err="1" smtClean="0"/>
              <a:t>тэгэхээр</a:t>
            </a:r>
            <a:r>
              <a:rPr lang="ru-RU" baseline="0" dirty="0" smtClean="0"/>
              <a:t> </a:t>
            </a:r>
            <a:r>
              <a:rPr lang="ru-RU" baseline="0" dirty="0" err="1" smtClean="0"/>
              <a:t>юу</a:t>
            </a:r>
            <a:r>
              <a:rPr lang="ru-RU" baseline="0" dirty="0" smtClean="0"/>
              <a:t> вэ?</a:t>
            </a:r>
            <a:endParaRPr lang="en-US" dirty="0"/>
          </a:p>
        </p:txBody>
      </p:sp>
      <p:sp>
        <p:nvSpPr>
          <p:cNvPr id="3" name="Content Placeholder 2"/>
          <p:cNvSpPr>
            <a:spLocks noGrp="1"/>
          </p:cNvSpPr>
          <p:nvPr>
            <p:ph idx="1"/>
          </p:nvPr>
        </p:nvSpPr>
        <p:spPr/>
        <p:txBody>
          <a:bodyPr>
            <a:normAutofit/>
          </a:bodyPr>
          <a:lstStyle/>
          <a:p>
            <a:pPr lvl="0"/>
            <a:r>
              <a:rPr lang="en-US" baseline="0" dirty="0" smtClean="0"/>
              <a:t> </a:t>
            </a:r>
            <a:r>
              <a:rPr lang="ru-RU" baseline="0" dirty="0" err="1" smtClean="0"/>
              <a:t>Мэргэжлээ</a:t>
            </a:r>
            <a:r>
              <a:rPr lang="ru-RU" baseline="0" dirty="0" smtClean="0"/>
              <a:t> </a:t>
            </a:r>
            <a:r>
              <a:rPr lang="ru-RU" baseline="0" dirty="0" err="1" smtClean="0"/>
              <a:t>сонгоогүй</a:t>
            </a:r>
            <a:r>
              <a:rPr lang="ru-RU" baseline="0" dirty="0" smtClean="0"/>
              <a:t> </a:t>
            </a:r>
            <a:r>
              <a:rPr lang="ru-RU" baseline="0" dirty="0" err="1" smtClean="0"/>
              <a:t>хүнд</a:t>
            </a:r>
            <a:r>
              <a:rPr lang="ru-RU" baseline="0" dirty="0" smtClean="0"/>
              <a:t> / </a:t>
            </a:r>
            <a:r>
              <a:rPr lang="ru-RU" baseline="0" dirty="0" err="1" smtClean="0"/>
              <a:t>олон</a:t>
            </a:r>
            <a:r>
              <a:rPr lang="ru-RU" baseline="0" dirty="0" smtClean="0"/>
              <a:t> </a:t>
            </a:r>
            <a:r>
              <a:rPr lang="ru-RU" baseline="0" dirty="0" err="1" smtClean="0"/>
              <a:t>талын</a:t>
            </a:r>
            <a:r>
              <a:rPr lang="ru-RU" baseline="0" dirty="0" smtClean="0"/>
              <a:t> </a:t>
            </a:r>
            <a:r>
              <a:rPr lang="ru-RU" baseline="0" dirty="0" err="1" smtClean="0"/>
              <a:t>мэдлэгтэй</a:t>
            </a:r>
            <a:r>
              <a:rPr lang="ru-RU" baseline="0" dirty="0" smtClean="0"/>
              <a:t> </a:t>
            </a:r>
            <a:r>
              <a:rPr lang="ru-RU" baseline="0" dirty="0" err="1" smtClean="0"/>
              <a:t>болохийг</a:t>
            </a:r>
            <a:r>
              <a:rPr lang="ru-RU" baseline="0" dirty="0" smtClean="0"/>
              <a:t> </a:t>
            </a:r>
            <a:r>
              <a:rPr lang="ru-RU" baseline="0" dirty="0" err="1" smtClean="0"/>
              <a:t>хүсвэл</a:t>
            </a:r>
            <a:endParaRPr lang="en-US" baseline="0" dirty="0" smtClean="0"/>
          </a:p>
          <a:p>
            <a:pPr lvl="0"/>
            <a:r>
              <a:rPr lang="en-US" dirty="0" smtClean="0"/>
              <a:t>Apply</a:t>
            </a:r>
            <a:r>
              <a:rPr lang="ru-RU" baseline="0" dirty="0" smtClean="0"/>
              <a:t> </a:t>
            </a:r>
            <a:r>
              <a:rPr lang="ru-RU" baseline="0" dirty="0" err="1" smtClean="0"/>
              <a:t>хийхийн</a:t>
            </a:r>
            <a:r>
              <a:rPr lang="ru-RU" baseline="0" dirty="0" smtClean="0"/>
              <a:t> </a:t>
            </a:r>
            <a:r>
              <a:rPr lang="ru-RU" baseline="0" dirty="0" err="1" smtClean="0"/>
              <a:t>тулд</a:t>
            </a:r>
            <a:r>
              <a:rPr lang="ru-RU" baseline="0" dirty="0" smtClean="0"/>
              <a:t> </a:t>
            </a:r>
            <a:r>
              <a:rPr lang="en-US" baseline="0" dirty="0" smtClean="0"/>
              <a:t>SAT</a:t>
            </a:r>
            <a:r>
              <a:rPr lang="en-US" dirty="0" smtClean="0"/>
              <a:t> </a:t>
            </a:r>
            <a:r>
              <a:rPr lang="ru-RU" baseline="0" dirty="0" smtClean="0"/>
              <a:t>,</a:t>
            </a:r>
            <a:r>
              <a:rPr lang="en-US" baseline="0" dirty="0" smtClean="0"/>
              <a:t>TOEFL</a:t>
            </a:r>
            <a:r>
              <a:rPr lang="ru-RU" baseline="0" dirty="0" smtClean="0"/>
              <a:t> 2 л </a:t>
            </a:r>
            <a:r>
              <a:rPr lang="ru-RU" baseline="0" dirty="0" err="1" smtClean="0"/>
              <a:t>шаарлагатай</a:t>
            </a:r>
            <a:r>
              <a:rPr lang="ru-RU" baseline="0" dirty="0" smtClean="0"/>
              <a:t>. </a:t>
            </a:r>
            <a:r>
              <a:rPr lang="en-US" dirty="0" smtClean="0"/>
              <a:t>UK</a:t>
            </a:r>
            <a:r>
              <a:rPr lang="ru-RU" baseline="0" dirty="0" smtClean="0"/>
              <a:t> </a:t>
            </a:r>
            <a:r>
              <a:rPr lang="ru-RU" baseline="0" dirty="0" err="1" smtClean="0"/>
              <a:t>руу</a:t>
            </a:r>
            <a:r>
              <a:rPr lang="ru-RU" baseline="0" dirty="0" smtClean="0"/>
              <a:t> </a:t>
            </a:r>
            <a:r>
              <a:rPr lang="ru-RU" baseline="0" dirty="0" err="1" smtClean="0"/>
              <a:t>заавал</a:t>
            </a:r>
            <a:r>
              <a:rPr lang="ru-RU" baseline="0" dirty="0" smtClean="0"/>
              <a:t> </a:t>
            </a:r>
            <a:r>
              <a:rPr lang="en-US" baseline="0" dirty="0" smtClean="0"/>
              <a:t>IB</a:t>
            </a:r>
            <a:r>
              <a:rPr lang="ru-RU" baseline="0" dirty="0" smtClean="0"/>
              <a:t> </a:t>
            </a:r>
            <a:r>
              <a:rPr lang="ru-RU" baseline="0" dirty="0" err="1" smtClean="0"/>
              <a:t>юмуу</a:t>
            </a:r>
            <a:r>
              <a:rPr lang="ru-RU" baseline="0" dirty="0" smtClean="0"/>
              <a:t> </a:t>
            </a:r>
            <a:r>
              <a:rPr lang="en-US" baseline="0" dirty="0" smtClean="0"/>
              <a:t>A-levels</a:t>
            </a:r>
            <a:r>
              <a:rPr lang="ru-RU" baseline="0" dirty="0" smtClean="0"/>
              <a:t> </a:t>
            </a:r>
            <a:r>
              <a:rPr lang="ru-RU" baseline="0" dirty="0" err="1" smtClean="0"/>
              <a:t>нэмэлт</a:t>
            </a:r>
            <a:r>
              <a:rPr lang="ru-RU" baseline="0" dirty="0" smtClean="0"/>
              <a:t> </a:t>
            </a:r>
            <a:r>
              <a:rPr lang="ru-RU" baseline="0" dirty="0" err="1" smtClean="0"/>
              <a:t>шалгалт</a:t>
            </a:r>
            <a:r>
              <a:rPr lang="ru-RU" baseline="0" dirty="0" smtClean="0"/>
              <a:t> </a:t>
            </a:r>
            <a:r>
              <a:rPr lang="ru-RU" baseline="0" dirty="0" err="1" smtClean="0"/>
              <a:t>өгөх</a:t>
            </a:r>
            <a:r>
              <a:rPr lang="ru-RU" baseline="0" dirty="0" smtClean="0"/>
              <a:t> </a:t>
            </a:r>
            <a:r>
              <a:rPr lang="ru-RU" baseline="0" dirty="0" err="1" smtClean="0"/>
              <a:t>шаардлагатай</a:t>
            </a:r>
            <a:endParaRPr lang="en-US" baseline="0" dirty="0" smtClean="0"/>
          </a:p>
          <a:p>
            <a:pPr lvl="0"/>
            <a:r>
              <a:rPr lang="ru-RU" baseline="0" dirty="0" err="1" smtClean="0"/>
              <a:t>олон</a:t>
            </a:r>
            <a:r>
              <a:rPr lang="ru-RU" baseline="0" dirty="0" smtClean="0"/>
              <a:t> </a:t>
            </a:r>
            <a:r>
              <a:rPr lang="ru-RU" baseline="0" dirty="0" err="1" smtClean="0"/>
              <a:t>улсын</a:t>
            </a:r>
            <a:r>
              <a:rPr lang="ru-RU" baseline="0" dirty="0" smtClean="0"/>
              <a:t> </a:t>
            </a:r>
            <a:r>
              <a:rPr lang="ru-RU" baseline="0" dirty="0" err="1" smtClean="0"/>
              <a:t>сырагч</a:t>
            </a:r>
            <a:r>
              <a:rPr lang="ru-RU" baseline="0" dirty="0" smtClean="0"/>
              <a:t> </a:t>
            </a:r>
            <a:r>
              <a:rPr lang="ru-RU" baseline="0" dirty="0" err="1" smtClean="0"/>
              <a:t>орох</a:t>
            </a:r>
            <a:r>
              <a:rPr lang="ru-RU" baseline="0" dirty="0" smtClean="0"/>
              <a:t> </a:t>
            </a:r>
            <a:r>
              <a:rPr lang="ru-RU" baseline="0" dirty="0" err="1" smtClean="0"/>
              <a:t>боломж</a:t>
            </a:r>
            <a:r>
              <a:rPr lang="ru-RU" baseline="0" dirty="0" smtClean="0"/>
              <a:t> </a:t>
            </a:r>
            <a:r>
              <a:rPr lang="ru-RU" baseline="0" dirty="0" err="1" smtClean="0"/>
              <a:t>ихтэй</a:t>
            </a:r>
            <a:r>
              <a:rPr lang="ru-RU" baseline="0" dirty="0" smtClean="0"/>
              <a:t>/ </a:t>
            </a:r>
            <a:r>
              <a:rPr lang="ru-RU" baseline="0" dirty="0" err="1" smtClean="0"/>
              <a:t>тэтгэлэг</a:t>
            </a:r>
            <a:r>
              <a:rPr lang="ru-RU" baseline="0" dirty="0" smtClean="0"/>
              <a:t> </a:t>
            </a:r>
            <a:r>
              <a:rPr lang="ru-RU" baseline="0" dirty="0" err="1" smtClean="0"/>
              <a:t>олдох</a:t>
            </a:r>
            <a:r>
              <a:rPr lang="ru-RU" baseline="0" dirty="0" smtClean="0"/>
              <a:t> </a:t>
            </a:r>
            <a:r>
              <a:rPr lang="ru-RU" baseline="0" dirty="0" err="1" smtClean="0"/>
              <a:t>бүрэн</a:t>
            </a:r>
            <a:r>
              <a:rPr lang="ru-RU" baseline="0" dirty="0" smtClean="0"/>
              <a:t> </a:t>
            </a:r>
            <a:r>
              <a:rPr lang="ru-RU" baseline="0" dirty="0" err="1" smtClean="0"/>
              <a:t>боломжтой</a:t>
            </a:r>
            <a:endParaRPr lang="en-US" baseline="0" dirty="0" smtClean="0"/>
          </a:p>
          <a:p>
            <a:pPr lvl="0"/>
            <a:r>
              <a:rPr lang="ru-RU" baseline="0" dirty="0" err="1" smtClean="0"/>
              <a:t>дулаан</a:t>
            </a:r>
            <a:r>
              <a:rPr lang="ru-RU" baseline="0" dirty="0" smtClean="0"/>
              <a:t> </a:t>
            </a:r>
            <a:r>
              <a:rPr lang="ru-RU" baseline="0" dirty="0" err="1" smtClean="0"/>
              <a:t>уур</a:t>
            </a:r>
            <a:r>
              <a:rPr lang="ru-RU" baseline="0" dirty="0" smtClean="0"/>
              <a:t> </a:t>
            </a:r>
            <a:r>
              <a:rPr lang="ru-RU" baseline="0" dirty="0" err="1" smtClean="0"/>
              <a:t>амьсгал</a:t>
            </a:r>
            <a:r>
              <a:rPr lang="ru-RU" baseline="0" dirty="0" smtClean="0"/>
              <a:t>, </a:t>
            </a:r>
            <a:r>
              <a:rPr lang="ru-RU" baseline="0" dirty="0" err="1" smtClean="0"/>
              <a:t>монголын</a:t>
            </a:r>
            <a:r>
              <a:rPr lang="ru-RU" baseline="0" dirty="0" smtClean="0"/>
              <a:t> </a:t>
            </a:r>
            <a:r>
              <a:rPr lang="ru-RU" baseline="0" dirty="0" err="1" smtClean="0"/>
              <a:t>оюутны</a:t>
            </a:r>
            <a:r>
              <a:rPr lang="ru-RU" baseline="0" dirty="0" smtClean="0"/>
              <a:t> </a:t>
            </a:r>
            <a:r>
              <a:rPr lang="ru-RU" baseline="0" dirty="0" err="1" smtClean="0"/>
              <a:t>холбоотой</a:t>
            </a:r>
            <a:r>
              <a:rPr lang="ru-RU" baseline="0" dirty="0" smtClean="0"/>
              <a:t> (АМОX)</a:t>
            </a:r>
            <a:endParaRPr lang="en-US" baseline="0" dirty="0" smtClean="0"/>
          </a:p>
        </p:txBody>
      </p:sp>
    </p:spTree>
    <p:extLst>
      <p:ext uri="{BB962C8B-B14F-4D97-AF65-F5344CB8AC3E}">
        <p14:creationId xmlns:p14="http://schemas.microsoft.com/office/powerpoint/2010/main" val="38701224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7543800" cy="1600200"/>
          </a:xfrm>
        </p:spPr>
        <p:txBody>
          <a:bodyPr>
            <a:normAutofit fontScale="90000"/>
          </a:bodyPr>
          <a:lstStyle/>
          <a:p>
            <a:r>
              <a:rPr lang="en-US" dirty="0" err="1" smtClean="0"/>
              <a:t>Тан</a:t>
            </a:r>
            <a:r>
              <a:rPr lang="mn-MN" dirty="0" smtClean="0"/>
              <a:t>ы</a:t>
            </a:r>
            <a:r>
              <a:rPr lang="en-US" dirty="0" smtClean="0"/>
              <a:t> </a:t>
            </a:r>
            <a:r>
              <a:rPr lang="en-US" dirty="0" err="1" smtClean="0"/>
              <a:t>сонголтоо</a:t>
            </a:r>
            <a:r>
              <a:rPr lang="en-US" dirty="0" smtClean="0"/>
              <a:t> </a:t>
            </a:r>
            <a:r>
              <a:rPr lang="en-US" dirty="0" err="1" smtClean="0"/>
              <a:t>хийх</a:t>
            </a:r>
            <a:r>
              <a:rPr lang="en-US" dirty="0" smtClean="0"/>
              <a:t> </a:t>
            </a:r>
            <a:r>
              <a:rPr lang="en-US" dirty="0" err="1" smtClean="0"/>
              <a:t>цаг</a:t>
            </a:r>
            <a:r>
              <a:rPr lang="en-US" dirty="0" smtClean="0"/>
              <a:t>!</a:t>
            </a:r>
            <a:endParaRPr lang="en-US" dirty="0"/>
          </a:p>
        </p:txBody>
      </p:sp>
      <p:sp>
        <p:nvSpPr>
          <p:cNvPr id="3" name="Content Placeholder 2"/>
          <p:cNvSpPr>
            <a:spLocks noGrp="1"/>
          </p:cNvSpPr>
          <p:nvPr>
            <p:ph idx="1"/>
          </p:nvPr>
        </p:nvSpPr>
        <p:spPr>
          <a:xfrm>
            <a:off x="762000" y="2362200"/>
            <a:ext cx="7543800" cy="2209800"/>
          </a:xfrm>
        </p:spPr>
        <p:txBody>
          <a:bodyPr/>
          <a:lstStyle/>
          <a:p>
            <a:r>
              <a:rPr lang="ru-RU" dirty="0" err="1" smtClean="0"/>
              <a:t>мэдээллээр</a:t>
            </a:r>
            <a:r>
              <a:rPr lang="ru-RU" dirty="0" smtClean="0"/>
              <a:t> </a:t>
            </a:r>
            <a:r>
              <a:rPr lang="ru-RU" dirty="0" err="1" smtClean="0"/>
              <a:t>бүрэн</a:t>
            </a:r>
            <a:r>
              <a:rPr lang="ru-RU" dirty="0" smtClean="0"/>
              <a:t> </a:t>
            </a:r>
            <a:r>
              <a:rPr lang="ru-RU" dirty="0" err="1" smtClean="0"/>
              <a:t>хангагдах</a:t>
            </a:r>
            <a:endParaRPr lang="en-US" dirty="0" smtClean="0"/>
          </a:p>
          <a:p>
            <a:r>
              <a:rPr lang="en-US" dirty="0" err="1" smtClean="0"/>
              <a:t>айдсаа</a:t>
            </a:r>
            <a:r>
              <a:rPr lang="en-US" dirty="0" smtClean="0"/>
              <a:t> </a:t>
            </a:r>
            <a:r>
              <a:rPr lang="en-US" dirty="0" err="1" smtClean="0"/>
              <a:t>даван</a:t>
            </a:r>
            <a:r>
              <a:rPr lang="en-US" dirty="0" smtClean="0"/>
              <a:t> </a:t>
            </a:r>
            <a:r>
              <a:rPr lang="en-US" dirty="0" err="1" smtClean="0"/>
              <a:t>туулах</a:t>
            </a:r>
            <a:endParaRPr lang="en-US" dirty="0" smtClean="0"/>
          </a:p>
          <a:p>
            <a:r>
              <a:rPr lang="ru-RU" dirty="0" smtClean="0"/>
              <a:t>та </a:t>
            </a:r>
            <a:r>
              <a:rPr lang="ru-RU" dirty="0" err="1" smtClean="0"/>
              <a:t>гадаадын</a:t>
            </a:r>
            <a:r>
              <a:rPr lang="ru-RU" dirty="0" smtClean="0"/>
              <a:t> том </a:t>
            </a:r>
            <a:r>
              <a:rPr lang="ru-RU" dirty="0" err="1" smtClean="0"/>
              <a:t>сургуульд</a:t>
            </a:r>
            <a:r>
              <a:rPr lang="ru-RU" dirty="0" smtClean="0"/>
              <a:t> </a:t>
            </a:r>
            <a:r>
              <a:rPr lang="ru-RU" dirty="0" err="1" smtClean="0"/>
              <a:t>орох</a:t>
            </a:r>
            <a:r>
              <a:rPr lang="ru-RU" dirty="0" smtClean="0"/>
              <a:t> </a:t>
            </a:r>
            <a:r>
              <a:rPr lang="ru-RU" dirty="0" err="1" smtClean="0"/>
              <a:t>бүрэн</a:t>
            </a:r>
            <a:r>
              <a:rPr lang="ru-RU" dirty="0" smtClean="0"/>
              <a:t> </a:t>
            </a:r>
            <a:r>
              <a:rPr lang="ru-RU" dirty="0" err="1" smtClean="0"/>
              <a:t>боломжтой</a:t>
            </a:r>
            <a:r>
              <a:rPr lang="en-US" dirty="0" smtClean="0"/>
              <a:t>! </a:t>
            </a:r>
            <a:endParaRPr lang="en-US" baseline="0" dirty="0" smtClean="0"/>
          </a:p>
        </p:txBody>
      </p:sp>
      <p:pic>
        <p:nvPicPr>
          <p:cNvPr id="5" name="Picture 4"/>
          <p:cNvPicPr>
            <a:picLocks noChangeAspect="1"/>
          </p:cNvPicPr>
          <p:nvPr/>
        </p:nvPicPr>
        <p:blipFill>
          <a:blip r:embed="rId2"/>
          <a:stretch>
            <a:fillRect/>
          </a:stretch>
        </p:blipFill>
        <p:spPr>
          <a:xfrm>
            <a:off x="762000" y="533400"/>
            <a:ext cx="2857500" cy="2314824"/>
          </a:xfrm>
          <a:prstGeom prst="rect">
            <a:avLst/>
          </a:prstGeom>
        </p:spPr>
      </p:pic>
      <p:pic>
        <p:nvPicPr>
          <p:cNvPr id="6" name="Picture 5"/>
          <p:cNvPicPr>
            <a:picLocks noChangeAspect="1"/>
          </p:cNvPicPr>
          <p:nvPr/>
        </p:nvPicPr>
        <p:blipFill>
          <a:blip r:embed="rId3"/>
          <a:stretch>
            <a:fillRect/>
          </a:stretch>
        </p:blipFill>
        <p:spPr>
          <a:xfrm>
            <a:off x="4495800" y="457200"/>
            <a:ext cx="3492500" cy="2324100"/>
          </a:xfrm>
          <a:prstGeom prst="rect">
            <a:avLst/>
          </a:prstGeom>
        </p:spPr>
      </p:pic>
    </p:spTree>
    <p:extLst>
      <p:ext uri="{BB962C8B-B14F-4D97-AF65-F5344CB8AC3E}">
        <p14:creationId xmlns:p14="http://schemas.microsoft.com/office/powerpoint/2010/main" val="380660898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p:txBody>
          <a:bodyPr/>
          <a:lstStyle/>
          <a:p>
            <a:r>
              <a:rPr lang="en-US" smtClean="0"/>
              <a:t>Deloitte</a:t>
            </a:r>
            <a:endParaRPr lang="en-US" dirty="0"/>
          </a:p>
        </p:txBody>
      </p:sp>
      <p:sp>
        <p:nvSpPr>
          <p:cNvPr id="6" name="Slide Number Placeholder 5"/>
          <p:cNvSpPr>
            <a:spLocks noGrp="1"/>
          </p:cNvSpPr>
          <p:nvPr>
            <p:ph type="sldNum" sz="quarter" idx="4"/>
          </p:nvPr>
        </p:nvSpPr>
        <p:spPr/>
        <p:txBody>
          <a:bodyPr/>
          <a:lstStyle/>
          <a:p>
            <a:fld id="{313880FF-B11A-4FA9-B5CC-7226C1B8517C}" type="slidenum">
              <a:rPr lang="en-US" smtClean="0"/>
              <a:pPr/>
              <a:t>27</a:t>
            </a:fld>
            <a:endParaRPr lang="en-US" dirty="0"/>
          </a:p>
        </p:txBody>
      </p:sp>
      <p:pic>
        <p:nvPicPr>
          <p:cNvPr id="9218" name="Picture 2" descr="http://www.lux-limo.co.uk/limo-articles/prt-gradu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4785" y="685800"/>
            <a:ext cx="5050605" cy="335122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365392" y="4502772"/>
            <a:ext cx="6209392" cy="1308050"/>
          </a:xfrm>
          <a:prstGeom prst="rect">
            <a:avLst/>
          </a:prstGeom>
          <a:noFill/>
        </p:spPr>
        <p:txBody>
          <a:bodyPr wrap="none" lIns="0" tIns="0" rIns="0" bIns="0" rtlCol="0">
            <a:spAutoFit/>
          </a:bodyPr>
          <a:lstStyle/>
          <a:p>
            <a:pPr algn="ctr">
              <a:spcAft>
                <a:spcPts val="300"/>
              </a:spcAft>
            </a:pPr>
            <a:r>
              <a:rPr lang="mn-MN" sz="3200" dirty="0" smtClean="0">
                <a:solidFill>
                  <a:schemeClr val="tx2"/>
                </a:solidFill>
              </a:rPr>
              <a:t>Анхаарал тавьсанд баярлалаа</a:t>
            </a:r>
            <a:r>
              <a:rPr lang="en-US" sz="3200" dirty="0" smtClean="0">
                <a:solidFill>
                  <a:schemeClr val="tx2"/>
                </a:solidFill>
              </a:rPr>
              <a:t>!!!</a:t>
            </a:r>
            <a:endParaRPr lang="mn-MN" sz="3200" dirty="0" smtClean="0">
              <a:solidFill>
                <a:schemeClr val="tx2"/>
              </a:solidFill>
            </a:endParaRPr>
          </a:p>
          <a:p>
            <a:pPr>
              <a:spcAft>
                <a:spcPts val="300"/>
              </a:spcAft>
            </a:pPr>
            <a:endParaRPr lang="mn-MN" sz="1600" dirty="0">
              <a:solidFill>
                <a:schemeClr val="tx2"/>
              </a:solidFill>
            </a:endParaRPr>
          </a:p>
          <a:p>
            <a:pPr algn="ctr">
              <a:spcAft>
                <a:spcPts val="300"/>
              </a:spcAft>
            </a:pPr>
            <a:r>
              <a:rPr lang="mn-MN" sz="3200" dirty="0" smtClean="0">
                <a:solidFill>
                  <a:schemeClr val="tx2"/>
                </a:solidFill>
              </a:rPr>
              <a:t>Бүгдэнд нь амжилт хүсье</a:t>
            </a:r>
            <a:r>
              <a:rPr lang="en-US" sz="3200" dirty="0" smtClean="0">
                <a:solidFill>
                  <a:schemeClr val="tx2"/>
                </a:solidFill>
              </a:rPr>
              <a:t>!!!</a:t>
            </a:r>
          </a:p>
        </p:txBody>
      </p:sp>
    </p:spTree>
    <p:extLst>
      <p:ext uri="{BB962C8B-B14F-4D97-AF65-F5344CB8AC3E}">
        <p14:creationId xmlns:p14="http://schemas.microsoft.com/office/powerpoint/2010/main" val="393449547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84</TotalTime>
  <Words>510</Words>
  <Application>Microsoft Office PowerPoint</Application>
  <PresentationFormat>On-screen Show (4:3)</PresentationFormat>
  <Paragraphs>122</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NewsPrint</vt:lpstr>
      <vt:lpstr>Америк дахь Монгол Оюутны Холбоо</vt:lpstr>
      <vt:lpstr>70 гаруй гишүүдтэй</vt:lpstr>
      <vt:lpstr>Яагаад заавал Америкт суралцах ёстой гэж ?</vt:lpstr>
      <vt:lpstr>Яагаад ?</vt:lpstr>
      <vt:lpstr>Миний бодлоор</vt:lpstr>
      <vt:lpstr>Хүсэл зорилго...</vt:lpstr>
      <vt:lpstr>Шаардлагууд</vt:lpstr>
      <vt:lpstr>Суралцах орчин</vt:lpstr>
      <vt:lpstr>Давуу талууд</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                       UK                                    </vt:lpstr>
      <vt:lpstr>Боловсролын хувьд</vt:lpstr>
      <vt:lpstr>Apply хийх процесс</vt:lpstr>
      <vt:lpstr>Олон улсын оюутан орох боломж/тэтгэлэг хэр их вэ?</vt:lpstr>
      <vt:lpstr>Харилцааны уур амьсгал</vt:lpstr>
      <vt:lpstr>Америкийн давуу тал нь тэгэхээр юу вэ?</vt:lpstr>
      <vt:lpstr>Таны сонголтоо хийх цаг!</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Яагаад заавал амер</dc:title>
  <dc:creator>user</dc:creator>
  <cp:lastModifiedBy>user</cp:lastModifiedBy>
  <cp:revision>24</cp:revision>
  <dcterms:created xsi:type="dcterms:W3CDTF">2012-06-15T04:08:26Z</dcterms:created>
  <dcterms:modified xsi:type="dcterms:W3CDTF">2012-06-26T02:04:41Z</dcterms:modified>
</cp:coreProperties>
</file>